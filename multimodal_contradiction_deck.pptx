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studies multimodal contradiction detection: given an image and an edited caption, decide whether the caption is supported by the image or contradicts it. The deck follows the requested sequence: motivation, problem setup, model, experiments, and results. The central thesis is that controlled COCO-derived edits separate broad caption plausibility from precise visual grounding, and that token-level fusion over frozen CLIP states is especially effective for this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motivates the project. The original caption says there are two competitors in the dirt bike competition. The edited caption changes only one word: “Two” becomes “One.” The edited caption is still close to the source caption and still broadly plausible for the image, but visually it is false because the image shows two competitors. This is why contradiction detection is different from image-caption retrieval: the model must check the localized grounded detail, not just whether the caption sounds plausible for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binary multimodal inference. Given an image and an edited caption, the model predicts whether the caption is entailed by the image or contradicts it. I constructed the benchmark from COCO 2017 validation captions. A source family starts with one original caption and then contains edited versions of that caption. The final benchmark has 4,552 examples from 2,276 source families and 1,239 unique images. It is exactly balanced between entailment and contradiction. The train, validation, and test splits contain 3,186, 682, and 684 examples respectively, and the split is family-level so near-duplicate caption variants do not cross splits. The contradiction edits are targeted: action, attribute, object, and count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 four systems. Raw CLIP is a similarity baseline using openai/clip-vit-base-patch32 and a validation-selected cosine threshold of tau = 0.2906531470654598. The linear probe keeps the CLIP backbone frozen and trains a classifier over pooled image embeddings, pooled text embeddings, and the raw CLIP score. The cross-attention head also freezes CLIP, but fuses CLIP image and text token states with a hidden size of 256 and 4 attention heads. Qwen/Qwen2.5-VL-3B-Instruct is included as a zero-shot vision-language reference. The main hypothesis is that token-level fusion should help detect localized visual mismatches.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comparison uses the same 684-example test split for every system. The test set is exactly balanced, with 342 entailment examples and 342 contradiction examples. The split is family-level, which prevents related edited captions from crossing train, validation, and test. Validation is used only for model selection: selecting the raw CLIP similarity threshold and choosing the best lightweight trained heads. The best linear-probe trial is lp_f1, with 30 epochs, batch size 16, learning rate 0.0005, and validation accuracy 0.8856. The best cross-attention trial is ca_f3, with 35 epochs, batch size 4, learning rate 0.0001, and validation accuracy 0.9633. Qwen2.5-VL-3B-Instruct is evaluated zero-shot with no task-specific fine-tuning. The main metrics are accuracy, macro-F1, contradiction recall, and accuracy by edit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ranking is clear. Raw OpenAI CLIP ViT-B/32 reaches about 62.6% accuracy, which shows that cosine similarity alone is not a strong contradiction detector. Adding a linear probe over frozen CLIP features raises accuracy to about 89.6%. The strongest model is OpenAI CLIP ViT-B/32 with a Cross-Attention Head, which reaches about 96.5% accuracy and 96.5% macro-F1. Qwen2.5-VL-3B-Instruct reaches about 76.3% accuracy overall. The main takeaway is that token-level fusion over frozen CLIP features handles localized contradictions much better than broad image-text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gap appears on count contradictions. The cross-attention head reaches about 98.0% accuracy on count contradictions, while Qwen2.5-VL-3B-Instruct reaches only about 18.6%. Qwen performs much better on entailment than on contradiction: its contradiction recall is about 57.6%, while the cross-attention model’s contradiction recall is about 95.9%. This suggests that Qwen often accepts plausible captions unless the visual mismatch is explicitly grounded. The final conclusion is that the COCO-derived benchmark separates broad caption plausibility from precise visual grounding, and supervised cross-attention over frozen CLIP token states handles that grounding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94360" y="502920"/>
            <a:ext cx="2148840" cy="228600"/>
          </a:xfrm>
          <a:prstGeom prst="rect">
            <a:avLst/>
          </a:prstGeom>
          <a:noFill/>
          <a:ln/>
        </p:spPr>
        <p:txBody>
          <a:bodyPr wrap="square" lIns="0" tIns="0" rIns="0" bIns="0" rtlCol="0" anchor="ctr">
            <a:normAutofit/>
          </a:bodyPr>
          <a:lstStyle/>
          <a:p>
            <a:pPr indent="0" marL="0">
              <a:buNone/>
            </a:pPr>
            <a:r>
              <a:rPr lang="en-US" sz="830" b="1" dirty="0">
                <a:solidFill>
                  <a:srgbClr val="1A73E8"/>
                </a:solidFill>
                <a:latin typeface="Aptos" pitchFamily="34" charset="0"/>
                <a:ea typeface="Aptos" pitchFamily="34" charset="-122"/>
                <a:cs typeface="Aptos" pitchFamily="34" charset="-120"/>
              </a:rPr>
              <a:t>COMP 646 · VISION + LANGUAGE</a:t>
            </a:r>
            <a:endParaRPr lang="en-US" sz="830" dirty="0"/>
          </a:p>
        </p:txBody>
      </p:sp>
      <p:sp>
        <p:nvSpPr>
          <p:cNvPr id="3" name="Text 1"/>
          <p:cNvSpPr/>
          <p:nvPr/>
        </p:nvSpPr>
        <p:spPr>
          <a:xfrm>
            <a:off x="594360" y="1170432"/>
            <a:ext cx="6217920" cy="1874520"/>
          </a:xfrm>
          <a:prstGeom prst="rect">
            <a:avLst/>
          </a:prstGeom>
          <a:noFill/>
          <a:ln/>
        </p:spPr>
        <p:txBody>
          <a:bodyPr wrap="square" lIns="0" tIns="0" rIns="0" bIns="0" rtlCol="0" anchor="ctr">
            <a:normAutofit/>
          </a:bodyPr>
          <a:lstStyle/>
          <a:p>
            <a:pPr indent="0" marL="0">
              <a:buNone/>
            </a:pPr>
            <a:r>
              <a:rPr lang="en-US" sz="4300" b="1" dirty="0">
                <a:solidFill>
                  <a:srgbClr val="0B1324"/>
                </a:solidFill>
                <a:latin typeface="Aptos Display" pitchFamily="34" charset="0"/>
                <a:ea typeface="Aptos Display" pitchFamily="34" charset="-122"/>
                <a:cs typeface="Aptos Display" pitchFamily="34" charset="-120"/>
              </a:rPr>
              <a:t>Multimodal</a:t>
            </a:r>
            <a:endParaRPr lang="en-US" sz="4300" dirty="0"/>
          </a:p>
          <a:p>
            <a:pPr indent="0" marL="0">
              <a:buNone/>
            </a:pPr>
            <a:r>
              <a:rPr lang="en-US" sz="4300" b="1" dirty="0">
                <a:solidFill>
                  <a:srgbClr val="0B1324"/>
                </a:solidFill>
                <a:latin typeface="Aptos Display" pitchFamily="34" charset="0"/>
                <a:ea typeface="Aptos Display" pitchFamily="34" charset="-122"/>
                <a:cs typeface="Aptos Display" pitchFamily="34" charset="-120"/>
              </a:rPr>
              <a:t>Contradiction</a:t>
            </a:r>
            <a:endParaRPr lang="en-US" sz="4300" dirty="0"/>
          </a:p>
          <a:p>
            <a:pPr indent="0" marL="0">
              <a:buNone/>
            </a:pPr>
            <a:r>
              <a:rPr lang="en-US" sz="4300" b="1" dirty="0">
                <a:solidFill>
                  <a:srgbClr val="0B1324"/>
                </a:solidFill>
                <a:latin typeface="Aptos Display" pitchFamily="34" charset="0"/>
                <a:ea typeface="Aptos Display" pitchFamily="34" charset="-122"/>
                <a:cs typeface="Aptos Display" pitchFamily="34" charset="-120"/>
              </a:rPr>
              <a:t>Detection</a:t>
            </a:r>
            <a:endParaRPr lang="en-US" sz="4300" dirty="0"/>
          </a:p>
        </p:txBody>
      </p:sp>
      <p:sp>
        <p:nvSpPr>
          <p:cNvPr id="4" name="Text 2"/>
          <p:cNvSpPr/>
          <p:nvPr/>
        </p:nvSpPr>
        <p:spPr>
          <a:xfrm>
            <a:off x="621792" y="3246120"/>
            <a:ext cx="6583680" cy="530352"/>
          </a:xfrm>
          <a:prstGeom prst="rect">
            <a:avLst/>
          </a:prstGeom>
          <a:noFill/>
          <a:ln/>
        </p:spPr>
        <p:txBody>
          <a:bodyPr wrap="square" lIns="0" tIns="0" rIns="0" bIns="0" rtlCol="0" anchor="ctr">
            <a:normAutofit/>
          </a:bodyPr>
          <a:lstStyle/>
          <a:p>
            <a:pPr indent="0" marL="0">
              <a:buNone/>
            </a:pPr>
            <a:r>
              <a:rPr lang="en-US" sz="1420" dirty="0">
                <a:solidFill>
                  <a:srgbClr val="5F6368"/>
                </a:solidFill>
              </a:rPr>
              <a:t>A COCO-derived benchmark comparing frozen OpenAI CLIP ViT-B/32 systems and Qwen2.5-VL-3B-Instruct</a:t>
            </a:r>
            <a:endParaRPr lang="en-US" sz="1420" dirty="0"/>
          </a:p>
        </p:txBody>
      </p:sp>
      <p:sp>
        <p:nvSpPr>
          <p:cNvPr id="5" name="Text 3"/>
          <p:cNvSpPr/>
          <p:nvPr/>
        </p:nvSpPr>
        <p:spPr>
          <a:xfrm>
            <a:off x="7680960" y="1143000"/>
            <a:ext cx="822960" cy="201168"/>
          </a:xfrm>
          <a:prstGeom prst="rect">
            <a:avLst/>
          </a:prstGeom>
          <a:noFill/>
          <a:ln/>
        </p:spPr>
        <p:txBody>
          <a:bodyPr wrap="square" lIns="0" tIns="0" rIns="0" bIns="0" rtlCol="0" anchor="ctr"/>
          <a:lstStyle/>
          <a:p>
            <a:pPr indent="0" marL="0">
              <a:buNone/>
            </a:pPr>
            <a:r>
              <a:rPr lang="en-US" sz="870" b="1" dirty="0">
                <a:solidFill>
                  <a:srgbClr val="1A73E8"/>
                </a:solidFill>
              </a:rPr>
              <a:t>Thesis</a:t>
            </a:r>
            <a:endParaRPr lang="en-US" sz="870" dirty="0"/>
          </a:p>
        </p:txBody>
      </p:sp>
      <p:sp>
        <p:nvSpPr>
          <p:cNvPr id="6" name="Text 4"/>
          <p:cNvSpPr/>
          <p:nvPr/>
        </p:nvSpPr>
        <p:spPr>
          <a:xfrm>
            <a:off x="7680960" y="1481328"/>
            <a:ext cx="3840480" cy="868680"/>
          </a:xfrm>
          <a:prstGeom prst="rect">
            <a:avLst/>
          </a:prstGeom>
          <a:noFill/>
          <a:ln/>
        </p:spPr>
        <p:txBody>
          <a:bodyPr wrap="square" lIns="0" tIns="0" rIns="0" bIns="0" rtlCol="0" anchor="ctr">
            <a:normAutofit/>
          </a:bodyPr>
          <a:lstStyle/>
          <a:p>
            <a:pPr indent="0" marL="0">
              <a:buNone/>
            </a:pPr>
            <a:r>
              <a:rPr lang="en-US" sz="1530" b="1" dirty="0">
                <a:solidFill>
                  <a:srgbClr val="0B1324"/>
                </a:solidFill>
              </a:rPr>
              <a:t>Controlled visual contradictions reveal that token-level CLIP fusion handles localized grounding better than broad similarity or zero-shot VLM plausibility.</a:t>
            </a:r>
            <a:endParaRPr lang="en-US" sz="1530" dirty="0"/>
          </a:p>
        </p:txBody>
      </p:sp>
      <p:sp>
        <p:nvSpPr>
          <p:cNvPr id="7" name="Text 5"/>
          <p:cNvSpPr/>
          <p:nvPr/>
        </p:nvSpPr>
        <p:spPr>
          <a:xfrm>
            <a:off x="7680960" y="2971800"/>
            <a:ext cx="2286000" cy="219456"/>
          </a:xfrm>
          <a:prstGeom prst="rect">
            <a:avLst/>
          </a:prstGeom>
          <a:noFill/>
          <a:ln/>
        </p:spPr>
        <p:txBody>
          <a:bodyPr wrap="square" lIns="0" tIns="0" rIns="0" bIns="0" rtlCol="0" anchor="ctr"/>
          <a:lstStyle/>
          <a:p>
            <a:pPr indent="0" marL="0">
              <a:buNone/>
            </a:pPr>
            <a:r>
              <a:rPr lang="en-US" sz="1020" b="1" dirty="0">
                <a:solidFill>
                  <a:srgbClr val="1A73E8"/>
                </a:solidFill>
              </a:rPr>
              <a:t>Presentation structure</a:t>
            </a:r>
            <a:endParaRPr lang="en-US" sz="1020" dirty="0"/>
          </a:p>
        </p:txBody>
      </p:sp>
      <p:sp>
        <p:nvSpPr>
          <p:cNvPr id="8" name="Text 6"/>
          <p:cNvSpPr/>
          <p:nvPr/>
        </p:nvSpPr>
        <p:spPr>
          <a:xfrm>
            <a:off x="7680960" y="3401568"/>
            <a:ext cx="3108960" cy="246888"/>
          </a:xfrm>
          <a:prstGeom prst="rect">
            <a:avLst/>
          </a:prstGeom>
          <a:noFill/>
          <a:ln/>
        </p:spPr>
        <p:txBody>
          <a:bodyPr wrap="square" lIns="0" tIns="0" rIns="0" bIns="0" rtlCol="0" anchor="ctr">
            <a:normAutofit/>
          </a:bodyPr>
          <a:lstStyle/>
          <a:p>
            <a:pPr indent="0" marL="0">
              <a:buNone/>
            </a:pPr>
            <a:r>
              <a:rPr lang="en-US" sz="1520" b="1" dirty="0">
                <a:solidFill>
                  <a:srgbClr val="1A73E8"/>
                </a:solidFill>
              </a:rPr>
              <a:t>Motivation</a:t>
            </a:r>
            <a:endParaRPr lang="en-US" sz="1520" dirty="0"/>
          </a:p>
        </p:txBody>
      </p:sp>
      <p:sp>
        <p:nvSpPr>
          <p:cNvPr id="9" name="Text 7"/>
          <p:cNvSpPr/>
          <p:nvPr/>
        </p:nvSpPr>
        <p:spPr>
          <a:xfrm>
            <a:off x="7680960" y="3840480"/>
            <a:ext cx="3108960" cy="246888"/>
          </a:xfrm>
          <a:prstGeom prst="rect">
            <a:avLst/>
          </a:prstGeom>
          <a:noFill/>
          <a:ln/>
        </p:spPr>
        <p:txBody>
          <a:bodyPr wrap="square" lIns="0" tIns="0" rIns="0" bIns="0" rtlCol="0" anchor="ctr">
            <a:normAutofit/>
          </a:bodyPr>
          <a:lstStyle/>
          <a:p>
            <a:pPr indent="0" marL="0">
              <a:buNone/>
            </a:pPr>
            <a:r>
              <a:rPr lang="en-US" sz="1520" dirty="0">
                <a:solidFill>
                  <a:srgbClr val="202124"/>
                </a:solidFill>
              </a:rPr>
              <a:t>Problem Setup</a:t>
            </a:r>
            <a:endParaRPr lang="en-US" sz="1520" dirty="0"/>
          </a:p>
        </p:txBody>
      </p:sp>
      <p:sp>
        <p:nvSpPr>
          <p:cNvPr id="10" name="Text 8"/>
          <p:cNvSpPr/>
          <p:nvPr/>
        </p:nvSpPr>
        <p:spPr>
          <a:xfrm>
            <a:off x="7680960" y="4279392"/>
            <a:ext cx="3108960" cy="246888"/>
          </a:xfrm>
          <a:prstGeom prst="rect">
            <a:avLst/>
          </a:prstGeom>
          <a:noFill/>
          <a:ln/>
        </p:spPr>
        <p:txBody>
          <a:bodyPr wrap="square" lIns="0" tIns="0" rIns="0" bIns="0" rtlCol="0" anchor="ctr">
            <a:normAutofit/>
          </a:bodyPr>
          <a:lstStyle/>
          <a:p>
            <a:pPr indent="0" marL="0">
              <a:buNone/>
            </a:pPr>
            <a:r>
              <a:rPr lang="en-US" sz="1520" dirty="0">
                <a:solidFill>
                  <a:srgbClr val="202124"/>
                </a:solidFill>
              </a:rPr>
              <a:t>Model</a:t>
            </a:r>
            <a:endParaRPr lang="en-US" sz="1520" dirty="0"/>
          </a:p>
        </p:txBody>
      </p:sp>
      <p:sp>
        <p:nvSpPr>
          <p:cNvPr id="11" name="Text 9"/>
          <p:cNvSpPr/>
          <p:nvPr/>
        </p:nvSpPr>
        <p:spPr>
          <a:xfrm>
            <a:off x="7680960" y="4718304"/>
            <a:ext cx="3108960" cy="246888"/>
          </a:xfrm>
          <a:prstGeom prst="rect">
            <a:avLst/>
          </a:prstGeom>
          <a:noFill/>
          <a:ln/>
        </p:spPr>
        <p:txBody>
          <a:bodyPr wrap="square" lIns="0" tIns="0" rIns="0" bIns="0" rtlCol="0" anchor="ctr">
            <a:normAutofit/>
          </a:bodyPr>
          <a:lstStyle/>
          <a:p>
            <a:pPr indent="0" marL="0">
              <a:buNone/>
            </a:pPr>
            <a:r>
              <a:rPr lang="en-US" sz="1520" dirty="0">
                <a:solidFill>
                  <a:srgbClr val="202124"/>
                </a:solidFill>
              </a:rPr>
              <a:t>Experiments</a:t>
            </a:r>
            <a:endParaRPr lang="en-US" sz="1520" dirty="0"/>
          </a:p>
        </p:txBody>
      </p:sp>
      <p:sp>
        <p:nvSpPr>
          <p:cNvPr id="12" name="Text 10"/>
          <p:cNvSpPr/>
          <p:nvPr/>
        </p:nvSpPr>
        <p:spPr>
          <a:xfrm>
            <a:off x="7680960" y="5157216"/>
            <a:ext cx="3108960" cy="246888"/>
          </a:xfrm>
          <a:prstGeom prst="rect">
            <a:avLst/>
          </a:prstGeom>
          <a:noFill/>
          <a:ln/>
        </p:spPr>
        <p:txBody>
          <a:bodyPr wrap="square" lIns="0" tIns="0" rIns="0" bIns="0" rtlCol="0" anchor="ctr">
            <a:normAutofit/>
          </a:bodyPr>
          <a:lstStyle/>
          <a:p>
            <a:pPr indent="0" marL="0">
              <a:buNone/>
            </a:pPr>
            <a:r>
              <a:rPr lang="en-US" sz="1520" dirty="0">
                <a:solidFill>
                  <a:srgbClr val="202124"/>
                </a:solidFill>
              </a:rPr>
              <a:t>Results</a:t>
            </a:r>
            <a:endParaRPr lang="en-US" sz="1520" dirty="0"/>
          </a:p>
        </p:txBody>
      </p:sp>
      <p:sp>
        <p:nvSpPr>
          <p:cNvPr id="13" name="Text 11"/>
          <p:cNvSpPr/>
          <p:nvPr/>
        </p:nvSpPr>
        <p:spPr>
          <a:xfrm>
            <a:off x="621792" y="6035040"/>
            <a:ext cx="6949440" cy="228600"/>
          </a:xfrm>
          <a:prstGeom prst="rect">
            <a:avLst/>
          </a:prstGeom>
          <a:noFill/>
          <a:ln/>
        </p:spPr>
        <p:txBody>
          <a:bodyPr wrap="square" lIns="0" tIns="0" rIns="0" bIns="0" rtlCol="0" anchor="ctr">
            <a:normAutofit/>
          </a:bodyPr>
          <a:lstStyle/>
          <a:p>
            <a:pPr indent="0" marL="0">
              <a:buNone/>
            </a:pPr>
            <a:r>
              <a:rPr lang="en-US" sz="880" dirty="0">
                <a:solidFill>
                  <a:srgbClr val="5F6368"/>
                </a:solidFill>
              </a:rPr>
              <a:t>Saj Patel &amp; Prathamesh Swar  |  COMP 646  |  Multimodal Contradiction Project</a:t>
            </a:r>
            <a:endParaRPr lang="en-US" sz="8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02920" y="320040"/>
            <a:ext cx="2148840" cy="228600"/>
          </a:xfrm>
          <a:prstGeom prst="rect">
            <a:avLst/>
          </a:prstGeom>
          <a:noFill/>
          <a:ln/>
        </p:spPr>
        <p:txBody>
          <a:bodyPr wrap="square" lIns="0" tIns="0" rIns="0" bIns="0" rtlCol="0" anchor="ctr">
            <a:normAutofit/>
          </a:bodyPr>
          <a:lstStyle/>
          <a:p>
            <a:pPr indent="0" marL="0">
              <a:buNone/>
            </a:pPr>
            <a:r>
              <a:rPr lang="en-US" sz="830" b="1" dirty="0">
                <a:solidFill>
                  <a:srgbClr val="1A73E8"/>
                </a:solidFill>
                <a:latin typeface="Aptos" pitchFamily="34" charset="0"/>
                <a:ea typeface="Aptos" pitchFamily="34" charset="-122"/>
                <a:cs typeface="Aptos" pitchFamily="34" charset="-120"/>
              </a:rPr>
              <a:t>MOTIVATION</a:t>
            </a:r>
            <a:endParaRPr lang="en-US" sz="830" dirty="0"/>
          </a:p>
        </p:txBody>
      </p:sp>
      <p:sp>
        <p:nvSpPr>
          <p:cNvPr id="3" name="Text 1"/>
          <p:cNvSpPr/>
          <p:nvPr/>
        </p:nvSpPr>
        <p:spPr>
          <a:xfrm>
            <a:off x="502920" y="658368"/>
            <a:ext cx="9875520" cy="411480"/>
          </a:xfrm>
          <a:prstGeom prst="rect">
            <a:avLst/>
          </a:prstGeom>
          <a:noFill/>
          <a:ln/>
        </p:spPr>
        <p:txBody>
          <a:bodyPr wrap="square" lIns="0" tIns="0" rIns="0" bIns="0" rtlCol="0" anchor="ctr">
            <a:normAutofit/>
          </a:bodyPr>
          <a:lstStyle/>
          <a:p>
            <a:pPr indent="0" marL="0">
              <a:buNone/>
            </a:pPr>
            <a:r>
              <a:rPr lang="en-US" sz="2750" b="1" dirty="0">
                <a:solidFill>
                  <a:srgbClr val="0B1324"/>
                </a:solidFill>
                <a:latin typeface="Aptos Display" pitchFamily="34" charset="0"/>
                <a:ea typeface="Aptos Display" pitchFamily="34" charset="-122"/>
                <a:cs typeface="Aptos Display" pitchFamily="34" charset="-120"/>
              </a:rPr>
              <a:t>Small caption edits can create visual contradictions</a:t>
            </a:r>
            <a:endParaRPr lang="en-US" sz="2750" dirty="0"/>
          </a:p>
        </p:txBody>
      </p:sp>
      <p:sp>
        <p:nvSpPr>
          <p:cNvPr id="4" name="Text 2"/>
          <p:cNvSpPr/>
          <p:nvPr/>
        </p:nvSpPr>
        <p:spPr>
          <a:xfrm>
            <a:off x="502920" y="1124712"/>
            <a:ext cx="10149840" cy="292608"/>
          </a:xfrm>
          <a:prstGeom prst="rect">
            <a:avLst/>
          </a:prstGeom>
          <a:noFill/>
          <a:ln/>
        </p:spPr>
        <p:txBody>
          <a:bodyPr wrap="square" lIns="0" tIns="0" rIns="0" bIns="0" rtlCol="0" anchor="ctr">
            <a:normAutofit/>
          </a:bodyPr>
          <a:lstStyle/>
          <a:p>
            <a:pPr indent="0" marL="0">
              <a:buNone/>
            </a:pPr>
            <a:r>
              <a:rPr lang="en-US" sz="1230" dirty="0">
                <a:solidFill>
                  <a:srgbClr val="5F6368"/>
                </a:solidFill>
                <a:latin typeface="Aptos" pitchFamily="34" charset="0"/>
                <a:ea typeface="Aptos" pitchFamily="34" charset="-122"/>
                <a:cs typeface="Aptos" pitchFamily="34" charset="-120"/>
              </a:rPr>
              <a:t>A hard case is a nearly correct caption with one grounded detail changed.</a:t>
            </a:r>
            <a:endParaRPr lang="en-US" sz="1230" dirty="0"/>
          </a:p>
        </p:txBody>
      </p:sp>
      <p:pic>
        <p:nvPicPr>
          <p:cNvPr id="5" name="Image 0" descr="/mnt/data/pptx_extract/ppt/media/image.jpeg">    </p:cNvPr>
          <p:cNvPicPr>
            <a:picLocks noChangeAspect="1"/>
          </p:cNvPicPr>
          <p:nvPr/>
        </p:nvPicPr>
        <p:blipFill>
          <a:blip r:embed="rId1"/>
          <a:srcRect l="0" r="4441" t="0" b="4000"/>
          <a:stretch/>
        </p:blipFill>
        <p:spPr>
          <a:xfrm>
            <a:off x="594360" y="1691640"/>
            <a:ext cx="5257800" cy="3383280"/>
          </a:xfrm>
          <a:prstGeom prst="rect">
            <a:avLst/>
          </a:prstGeom>
        </p:spPr>
      </p:pic>
      <p:sp>
        <p:nvSpPr>
          <p:cNvPr id="6" name="Text 3"/>
          <p:cNvSpPr/>
          <p:nvPr/>
        </p:nvSpPr>
        <p:spPr>
          <a:xfrm>
            <a:off x="621792" y="5193792"/>
            <a:ext cx="5166360" cy="164592"/>
          </a:xfrm>
          <a:prstGeom prst="rect">
            <a:avLst/>
          </a:prstGeom>
          <a:noFill/>
          <a:ln/>
        </p:spPr>
        <p:txBody>
          <a:bodyPr wrap="square" lIns="0" tIns="0" rIns="0" bIns="0" rtlCol="0" anchor="ctr">
            <a:normAutofit/>
          </a:bodyPr>
          <a:lstStyle/>
          <a:p>
            <a:pPr indent="0" marL="0">
              <a:buNone/>
            </a:pPr>
            <a:r>
              <a:rPr lang="en-US" sz="670" dirty="0">
                <a:solidFill>
                  <a:srgbClr val="5F6368"/>
                </a:solidFill>
              </a:rPr>
              <a:t>Sample val-101382::contradiction  |  image_id 214192</a:t>
            </a:r>
            <a:endParaRPr lang="en-US" sz="670" dirty="0"/>
          </a:p>
        </p:txBody>
      </p:sp>
      <p:sp>
        <p:nvSpPr>
          <p:cNvPr id="7" name="Text 4"/>
          <p:cNvSpPr/>
          <p:nvPr/>
        </p:nvSpPr>
        <p:spPr>
          <a:xfrm>
            <a:off x="6263640" y="1691640"/>
            <a:ext cx="2286000" cy="228600"/>
          </a:xfrm>
          <a:prstGeom prst="rect">
            <a:avLst/>
          </a:prstGeom>
          <a:noFill/>
          <a:ln/>
        </p:spPr>
        <p:txBody>
          <a:bodyPr wrap="square" lIns="508" tIns="508" rIns="508" bIns="508" rtlCol="0" anchor="ctr">
            <a:normAutofit/>
          </a:bodyPr>
          <a:lstStyle/>
          <a:p>
            <a:pPr indent="0" marL="0">
              <a:buNone/>
            </a:pPr>
            <a:r>
              <a:rPr lang="en-US" sz="950" b="1" dirty="0">
                <a:solidFill>
                  <a:srgbClr val="1A73E8"/>
                </a:solidFill>
                <a:latin typeface="Aptos" pitchFamily="34" charset="0"/>
                <a:ea typeface="Aptos" pitchFamily="34" charset="-122"/>
                <a:cs typeface="Aptos" pitchFamily="34" charset="-120"/>
              </a:rPr>
              <a:t>Source caption</a:t>
            </a:r>
            <a:endParaRPr lang="en-US" sz="950" dirty="0"/>
          </a:p>
        </p:txBody>
      </p:sp>
      <p:sp>
        <p:nvSpPr>
          <p:cNvPr id="8" name="Text 5"/>
          <p:cNvSpPr/>
          <p:nvPr/>
        </p:nvSpPr>
        <p:spPr>
          <a:xfrm>
            <a:off x="6263640" y="1984248"/>
            <a:ext cx="5074920" cy="411480"/>
          </a:xfrm>
          <a:prstGeom prst="rect">
            <a:avLst/>
          </a:prstGeom>
          <a:noFill/>
          <a:ln/>
        </p:spPr>
        <p:txBody>
          <a:bodyPr wrap="square" lIns="508" tIns="508" rIns="508" bIns="508" rtlCol="0" anchor="ctr">
            <a:normAutofit/>
          </a:bodyPr>
          <a:lstStyle/>
          <a:p>
            <a:pPr indent="0" marL="0">
              <a:buNone/>
            </a:pPr>
            <a:r>
              <a:rPr lang="en-US" sz="1550" b="1" dirty="0">
                <a:solidFill>
                  <a:srgbClr val="202124"/>
                </a:solidFill>
                <a:latin typeface="Aptos" pitchFamily="34" charset="0"/>
                <a:ea typeface="Aptos" pitchFamily="34" charset="-122"/>
                <a:cs typeface="Aptos" pitchFamily="34" charset="-120"/>
              </a:rPr>
              <a:t>Two competitors skidding during a dirt bike competition</a:t>
            </a:r>
            <a:endParaRPr lang="en-US" sz="1550" dirty="0"/>
          </a:p>
        </p:txBody>
      </p:sp>
      <p:sp>
        <p:nvSpPr>
          <p:cNvPr id="9" name="Text 6"/>
          <p:cNvSpPr/>
          <p:nvPr/>
        </p:nvSpPr>
        <p:spPr>
          <a:xfrm>
            <a:off x="6263640" y="2743200"/>
            <a:ext cx="2286000" cy="228600"/>
          </a:xfrm>
          <a:prstGeom prst="rect">
            <a:avLst/>
          </a:prstGeom>
          <a:noFill/>
          <a:ln/>
        </p:spPr>
        <p:txBody>
          <a:bodyPr wrap="square" lIns="508" tIns="508" rIns="508" bIns="508" rtlCol="0" anchor="ctr">
            <a:normAutofit/>
          </a:bodyPr>
          <a:lstStyle/>
          <a:p>
            <a:pPr indent="0" marL="0">
              <a:buNone/>
            </a:pPr>
            <a:r>
              <a:rPr lang="en-US" sz="950" b="1" dirty="0">
                <a:solidFill>
                  <a:srgbClr val="D93025"/>
                </a:solidFill>
                <a:latin typeface="Aptos" pitchFamily="34" charset="0"/>
                <a:ea typeface="Aptos" pitchFamily="34" charset="-122"/>
                <a:cs typeface="Aptos" pitchFamily="34" charset="-120"/>
              </a:rPr>
              <a:t>Edited caption</a:t>
            </a:r>
            <a:endParaRPr lang="en-US" sz="950" dirty="0"/>
          </a:p>
        </p:txBody>
      </p:sp>
      <p:sp>
        <p:nvSpPr>
          <p:cNvPr id="10" name="Text 7"/>
          <p:cNvSpPr/>
          <p:nvPr/>
        </p:nvSpPr>
        <p:spPr>
          <a:xfrm>
            <a:off x="6263640" y="3035808"/>
            <a:ext cx="5074920" cy="411480"/>
          </a:xfrm>
          <a:prstGeom prst="rect">
            <a:avLst/>
          </a:prstGeom>
          <a:noFill/>
          <a:ln/>
        </p:spPr>
        <p:txBody>
          <a:bodyPr wrap="square" lIns="508" tIns="508" rIns="508" bIns="508" rtlCol="0" anchor="ctr">
            <a:normAutofit/>
          </a:bodyPr>
          <a:lstStyle/>
          <a:p>
            <a:pPr indent="0" marL="0">
              <a:buNone/>
            </a:pPr>
            <a:r>
              <a:rPr lang="en-US" sz="1550" b="1" dirty="0">
                <a:solidFill>
                  <a:srgbClr val="202124"/>
                </a:solidFill>
                <a:latin typeface="Aptos" pitchFamily="34" charset="0"/>
                <a:ea typeface="Aptos" pitchFamily="34" charset="-122"/>
                <a:cs typeface="Aptos" pitchFamily="34" charset="-120"/>
              </a:rPr>
              <a:t>One competitor skidding during a dirt bike competition</a:t>
            </a:r>
            <a:endParaRPr lang="en-US" sz="1550" dirty="0"/>
          </a:p>
        </p:txBody>
      </p:sp>
      <p:sp>
        <p:nvSpPr>
          <p:cNvPr id="11" name="Text 8"/>
          <p:cNvSpPr/>
          <p:nvPr/>
        </p:nvSpPr>
        <p:spPr>
          <a:xfrm>
            <a:off x="6263640" y="3794760"/>
            <a:ext cx="2423160" cy="256032"/>
          </a:xfrm>
          <a:prstGeom prst="rect">
            <a:avLst/>
          </a:prstGeom>
          <a:solidFill>
            <a:srgbClr val="FEF7E0"/>
          </a:solidFill>
          <a:ln>
            <a:solidFill>
              <a:srgbClr val="FEF7E0">
                <a:alpha val="0"/>
              </a:srgbClr>
            </a:solidFill>
          </a:ln>
        </p:spPr>
        <p:txBody>
          <a:bodyPr wrap="square" lIns="381" tIns="381" rIns="381" bIns="381" rtlCol="0" anchor="ctr">
            <a:normAutofit/>
          </a:bodyPr>
          <a:lstStyle/>
          <a:p>
            <a:pPr algn="ctr" indent="0" marL="0">
              <a:buNone/>
            </a:pPr>
            <a:r>
              <a:rPr lang="en-US" sz="930" b="1" dirty="0">
                <a:solidFill>
                  <a:srgbClr val="F9AB00"/>
                </a:solidFill>
              </a:rPr>
              <a:t>ONE-WORD CHANGE: two → one</a:t>
            </a:r>
            <a:endParaRPr lang="en-US" sz="930" dirty="0"/>
          </a:p>
        </p:txBody>
      </p:sp>
      <p:sp>
        <p:nvSpPr>
          <p:cNvPr id="12" name="Text 9"/>
          <p:cNvSpPr/>
          <p:nvPr/>
        </p:nvSpPr>
        <p:spPr>
          <a:xfrm>
            <a:off x="8915400" y="3785616"/>
            <a:ext cx="2331720" cy="265176"/>
          </a:xfrm>
          <a:prstGeom prst="rect">
            <a:avLst/>
          </a:prstGeom>
          <a:noFill/>
          <a:ln/>
        </p:spPr>
        <p:txBody>
          <a:bodyPr wrap="square" lIns="254" tIns="254" rIns="254" bIns="254" rtlCol="0" anchor="ctr">
            <a:normAutofit/>
          </a:bodyPr>
          <a:lstStyle/>
          <a:p>
            <a:pPr indent="0" marL="0">
              <a:buNone/>
            </a:pPr>
            <a:r>
              <a:rPr lang="en-US" sz="1120" b="1" dirty="0">
                <a:solidFill>
                  <a:srgbClr val="D93025"/>
                </a:solidFill>
              </a:rPr>
              <a:t>Ground truth: contradiction</a:t>
            </a:r>
            <a:endParaRPr lang="en-US" sz="1120" dirty="0"/>
          </a:p>
        </p:txBody>
      </p:sp>
      <p:sp>
        <p:nvSpPr>
          <p:cNvPr id="13" name="Text 10"/>
          <p:cNvSpPr/>
          <p:nvPr/>
        </p:nvSpPr>
        <p:spPr>
          <a:xfrm>
            <a:off x="6263640" y="4498848"/>
            <a:ext cx="2011680" cy="228600"/>
          </a:xfrm>
          <a:prstGeom prst="rect">
            <a:avLst/>
          </a:prstGeom>
          <a:noFill/>
          <a:ln/>
        </p:spPr>
        <p:txBody>
          <a:bodyPr wrap="square" lIns="0" tIns="0" rIns="0" bIns="0" rtlCol="0" anchor="ctr"/>
          <a:lstStyle/>
          <a:p>
            <a:pPr indent="0" marL="0">
              <a:buNone/>
            </a:pPr>
            <a:r>
              <a:rPr lang="en-US" sz="1000" b="1" dirty="0">
                <a:solidFill>
                  <a:srgbClr val="0B1324"/>
                </a:solidFill>
              </a:rPr>
              <a:t>Why this matters</a:t>
            </a:r>
            <a:endParaRPr lang="en-US" sz="1000" dirty="0"/>
          </a:p>
        </p:txBody>
      </p:sp>
      <p:sp>
        <p:nvSpPr>
          <p:cNvPr id="14" name="Text 11"/>
          <p:cNvSpPr/>
          <p:nvPr/>
        </p:nvSpPr>
        <p:spPr>
          <a:xfrm>
            <a:off x="6263640" y="4773168"/>
            <a:ext cx="4983480" cy="658368"/>
          </a:xfrm>
          <a:prstGeom prst="rect">
            <a:avLst/>
          </a:prstGeom>
          <a:noFill/>
          <a:ln/>
        </p:spPr>
        <p:txBody>
          <a:bodyPr wrap="square" lIns="0" tIns="0" rIns="0" bIns="0" rtlCol="0" anchor="ctr">
            <a:normAutofit/>
          </a:bodyPr>
          <a:lstStyle/>
          <a:p>
            <a:pPr indent="0" marL="0">
              <a:buNone/>
            </a:pPr>
            <a:r>
              <a:rPr lang="en-US" sz="1350" dirty="0">
                <a:solidFill>
                  <a:srgbClr val="5F6368"/>
                </a:solidFill>
              </a:rPr>
              <a:t>The edited caption remains semantically close to the image-caption pair, but it is visually false. A similarity score can miss the contradiction unless it grounds the changed detail.</a:t>
            </a:r>
            <a:endParaRPr lang="en-US" sz="1350" dirty="0"/>
          </a:p>
        </p:txBody>
      </p:sp>
      <p:sp>
        <p:nvSpPr>
          <p:cNvPr id="15" name="Text 12"/>
          <p:cNvSpPr/>
          <p:nvPr/>
        </p:nvSpPr>
        <p:spPr>
          <a:xfrm>
            <a:off x="502920" y="6446520"/>
            <a:ext cx="8686800" cy="164592"/>
          </a:xfrm>
          <a:prstGeom prst="rect">
            <a:avLst/>
          </a:prstGeom>
          <a:noFill/>
          <a:ln/>
        </p:spPr>
        <p:txBody>
          <a:bodyPr wrap="square" lIns="0" tIns="0" rIns="0" bIns="0" rtlCol="0" anchor="ctr">
            <a:normAutofit/>
          </a:bodyPr>
          <a:lstStyle/>
          <a:p>
            <a:pPr indent="0" marL="0">
              <a:buNone/>
            </a:pPr>
            <a:r>
              <a:rPr lang="en-US" sz="680" dirty="0">
                <a:solidFill>
                  <a:srgbClr val="6F7276"/>
                </a:solidFill>
                <a:latin typeface="Aptos" pitchFamily="34" charset="0"/>
                <a:ea typeface="Aptos" pitchFamily="34" charset="-122"/>
                <a:cs typeface="Aptos" pitchFamily="34" charset="-120"/>
              </a:rPr>
              <a:t>Evidence source: project_artifacts/metrics/final/*_predictions_final.csv</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02920" y="320040"/>
            <a:ext cx="2148840" cy="228600"/>
          </a:xfrm>
          <a:prstGeom prst="rect">
            <a:avLst/>
          </a:prstGeom>
          <a:noFill/>
          <a:ln/>
        </p:spPr>
        <p:txBody>
          <a:bodyPr wrap="square" lIns="0" tIns="0" rIns="0" bIns="0" rtlCol="0" anchor="ctr">
            <a:normAutofit/>
          </a:bodyPr>
          <a:lstStyle/>
          <a:p>
            <a:pPr indent="0" marL="0">
              <a:buNone/>
            </a:pPr>
            <a:r>
              <a:rPr lang="en-US" sz="830" b="1" dirty="0">
                <a:solidFill>
                  <a:srgbClr val="1A73E8"/>
                </a:solidFill>
                <a:latin typeface="Aptos" pitchFamily="34" charset="0"/>
                <a:ea typeface="Aptos" pitchFamily="34" charset="-122"/>
                <a:cs typeface="Aptos" pitchFamily="34" charset="-120"/>
              </a:rPr>
              <a:t>PROBLEM SETUP</a:t>
            </a:r>
            <a:endParaRPr lang="en-US" sz="830" dirty="0"/>
          </a:p>
        </p:txBody>
      </p:sp>
      <p:sp>
        <p:nvSpPr>
          <p:cNvPr id="3" name="Text 1"/>
          <p:cNvSpPr/>
          <p:nvPr/>
        </p:nvSpPr>
        <p:spPr>
          <a:xfrm>
            <a:off x="502920" y="658368"/>
            <a:ext cx="9875520" cy="411480"/>
          </a:xfrm>
          <a:prstGeom prst="rect">
            <a:avLst/>
          </a:prstGeom>
          <a:noFill/>
          <a:ln/>
        </p:spPr>
        <p:txBody>
          <a:bodyPr wrap="square" lIns="0" tIns="0" rIns="0" bIns="0" rtlCol="0" anchor="ctr">
            <a:normAutofit/>
          </a:bodyPr>
          <a:lstStyle/>
          <a:p>
            <a:pPr indent="0" marL="0">
              <a:buNone/>
            </a:pPr>
            <a:r>
              <a:rPr lang="en-US" sz="2750" b="1" dirty="0">
                <a:solidFill>
                  <a:srgbClr val="0B1324"/>
                </a:solidFill>
                <a:latin typeface="Aptos Display" pitchFamily="34" charset="0"/>
                <a:ea typeface="Aptos Display" pitchFamily="34" charset="-122"/>
                <a:cs typeface="Aptos Display" pitchFamily="34" charset="-120"/>
              </a:rPr>
              <a:t>Problem setup: controlled COCO edits</a:t>
            </a:r>
            <a:endParaRPr lang="en-US" sz="2750" dirty="0"/>
          </a:p>
        </p:txBody>
      </p:sp>
      <p:sp>
        <p:nvSpPr>
          <p:cNvPr id="4" name="Text 2"/>
          <p:cNvSpPr/>
          <p:nvPr/>
        </p:nvSpPr>
        <p:spPr>
          <a:xfrm>
            <a:off x="502920" y="1124712"/>
            <a:ext cx="10149840" cy="292608"/>
          </a:xfrm>
          <a:prstGeom prst="rect">
            <a:avLst/>
          </a:prstGeom>
          <a:noFill/>
          <a:ln/>
        </p:spPr>
        <p:txBody>
          <a:bodyPr wrap="square" lIns="0" tIns="0" rIns="0" bIns="0" rtlCol="0" anchor="ctr">
            <a:normAutofit/>
          </a:bodyPr>
          <a:lstStyle/>
          <a:p>
            <a:pPr indent="0" marL="0">
              <a:buNone/>
            </a:pPr>
            <a:r>
              <a:rPr lang="en-US" sz="1230" dirty="0">
                <a:solidFill>
                  <a:srgbClr val="5F6368"/>
                </a:solidFill>
                <a:latin typeface="Aptos" pitchFamily="34" charset="0"/>
                <a:ea typeface="Aptos" pitchFamily="34" charset="-122"/>
                <a:cs typeface="Aptos" pitchFamily="34" charset="-120"/>
              </a:rPr>
              <a:t>Each source family contains one original caption plus paired entailment and contradiction edits.</a:t>
            </a:r>
            <a:endParaRPr lang="en-US" sz="1230" dirty="0"/>
          </a:p>
        </p:txBody>
      </p:sp>
      <p:sp>
        <p:nvSpPr>
          <p:cNvPr id="5" name="Text 3"/>
          <p:cNvSpPr/>
          <p:nvPr/>
        </p:nvSpPr>
        <p:spPr>
          <a:xfrm>
            <a:off x="594360" y="1645920"/>
            <a:ext cx="2286000" cy="228600"/>
          </a:xfrm>
          <a:prstGeom prst="rect">
            <a:avLst/>
          </a:prstGeom>
          <a:noFill/>
          <a:ln/>
        </p:spPr>
        <p:txBody>
          <a:bodyPr wrap="square" lIns="0" tIns="0" rIns="0" bIns="0" rtlCol="0" anchor="ctr"/>
          <a:lstStyle/>
          <a:p>
            <a:pPr indent="0" marL="0">
              <a:buNone/>
            </a:pPr>
            <a:r>
              <a:rPr lang="en-US" sz="1050" b="1" dirty="0">
                <a:solidFill>
                  <a:srgbClr val="1A73E8"/>
                </a:solidFill>
              </a:rPr>
              <a:t>Task definition</a:t>
            </a:r>
            <a:endParaRPr lang="en-US" sz="1050" dirty="0"/>
          </a:p>
        </p:txBody>
      </p:sp>
      <p:sp>
        <p:nvSpPr>
          <p:cNvPr id="6" name="Text 4"/>
          <p:cNvSpPr/>
          <p:nvPr/>
        </p:nvSpPr>
        <p:spPr>
          <a:xfrm>
            <a:off x="594360" y="1938528"/>
            <a:ext cx="1312164" cy="338328"/>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070" b="1" dirty="0">
                <a:solidFill>
                  <a:srgbClr val="0B1324"/>
                </a:solidFill>
                <a:latin typeface="Aptos" pitchFamily="34" charset="0"/>
                <a:ea typeface="Aptos" pitchFamily="34" charset="-122"/>
                <a:cs typeface="Aptos" pitchFamily="34" charset="-120"/>
              </a:rPr>
              <a:t>Input</a:t>
            </a:r>
            <a:endParaRPr lang="en-US" sz="1070" dirty="0"/>
          </a:p>
        </p:txBody>
      </p:sp>
      <p:sp>
        <p:nvSpPr>
          <p:cNvPr id="7" name="Text 5"/>
          <p:cNvSpPr/>
          <p:nvPr/>
        </p:nvSpPr>
        <p:spPr>
          <a:xfrm>
            <a:off x="1920240" y="1938528"/>
            <a:ext cx="3826764" cy="338328"/>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070" dirty="0">
                <a:solidFill>
                  <a:srgbClr val="202124"/>
                </a:solidFill>
                <a:latin typeface="Aptos" pitchFamily="34" charset="0"/>
                <a:ea typeface="Aptos" pitchFamily="34" charset="-122"/>
                <a:cs typeface="Aptos" pitchFamily="34" charset="-120"/>
              </a:rPr>
              <a:t>image + edited caption</a:t>
            </a:r>
            <a:endParaRPr lang="en-US" sz="1070" dirty="0"/>
          </a:p>
        </p:txBody>
      </p:sp>
      <p:sp>
        <p:nvSpPr>
          <p:cNvPr id="8" name="Text 6"/>
          <p:cNvSpPr/>
          <p:nvPr/>
        </p:nvSpPr>
        <p:spPr>
          <a:xfrm>
            <a:off x="594360" y="2295144"/>
            <a:ext cx="1312164" cy="338328"/>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070" b="1" dirty="0">
                <a:solidFill>
                  <a:srgbClr val="0B1324"/>
                </a:solidFill>
                <a:latin typeface="Aptos" pitchFamily="34" charset="0"/>
                <a:ea typeface="Aptos" pitchFamily="34" charset="-122"/>
                <a:cs typeface="Aptos" pitchFamily="34" charset="-120"/>
              </a:rPr>
              <a:t>Output</a:t>
            </a:r>
            <a:endParaRPr lang="en-US" sz="1070" dirty="0"/>
          </a:p>
        </p:txBody>
      </p:sp>
      <p:sp>
        <p:nvSpPr>
          <p:cNvPr id="9" name="Text 7"/>
          <p:cNvSpPr/>
          <p:nvPr/>
        </p:nvSpPr>
        <p:spPr>
          <a:xfrm>
            <a:off x="1920240" y="2295144"/>
            <a:ext cx="3826764" cy="338328"/>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070" dirty="0">
                <a:solidFill>
                  <a:srgbClr val="202124"/>
                </a:solidFill>
                <a:latin typeface="Aptos" pitchFamily="34" charset="0"/>
                <a:ea typeface="Aptos" pitchFamily="34" charset="-122"/>
                <a:cs typeface="Aptos" pitchFamily="34" charset="-120"/>
              </a:rPr>
              <a:t>entailment or contradiction</a:t>
            </a:r>
            <a:endParaRPr lang="en-US" sz="1070" dirty="0"/>
          </a:p>
        </p:txBody>
      </p:sp>
      <p:sp>
        <p:nvSpPr>
          <p:cNvPr id="10" name="Text 8"/>
          <p:cNvSpPr/>
          <p:nvPr/>
        </p:nvSpPr>
        <p:spPr>
          <a:xfrm>
            <a:off x="594360" y="2651760"/>
            <a:ext cx="1312164" cy="338328"/>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070" b="1" dirty="0">
                <a:solidFill>
                  <a:srgbClr val="188038"/>
                </a:solidFill>
                <a:latin typeface="Aptos" pitchFamily="34" charset="0"/>
                <a:ea typeface="Aptos" pitchFamily="34" charset="-122"/>
                <a:cs typeface="Aptos" pitchFamily="34" charset="-120"/>
              </a:rPr>
              <a:t>Entailment</a:t>
            </a:r>
            <a:endParaRPr lang="en-US" sz="1070" dirty="0"/>
          </a:p>
        </p:txBody>
      </p:sp>
      <p:sp>
        <p:nvSpPr>
          <p:cNvPr id="11" name="Text 9"/>
          <p:cNvSpPr/>
          <p:nvPr/>
        </p:nvSpPr>
        <p:spPr>
          <a:xfrm>
            <a:off x="1920240" y="2651760"/>
            <a:ext cx="3826764" cy="338328"/>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070" dirty="0">
                <a:solidFill>
                  <a:srgbClr val="202124"/>
                </a:solidFill>
                <a:latin typeface="Aptos" pitchFamily="34" charset="0"/>
                <a:ea typeface="Aptos" pitchFamily="34" charset="-122"/>
                <a:cs typeface="Aptos" pitchFamily="34" charset="-120"/>
              </a:rPr>
              <a:t>caption is supported by the image</a:t>
            </a:r>
            <a:endParaRPr lang="en-US" sz="1070" dirty="0"/>
          </a:p>
        </p:txBody>
      </p:sp>
      <p:sp>
        <p:nvSpPr>
          <p:cNvPr id="12" name="Text 10"/>
          <p:cNvSpPr/>
          <p:nvPr/>
        </p:nvSpPr>
        <p:spPr>
          <a:xfrm>
            <a:off x="594360" y="3008376"/>
            <a:ext cx="1312164" cy="338328"/>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070" b="1" dirty="0">
                <a:solidFill>
                  <a:srgbClr val="D93025"/>
                </a:solidFill>
                <a:latin typeface="Aptos" pitchFamily="34" charset="0"/>
                <a:ea typeface="Aptos" pitchFamily="34" charset="-122"/>
                <a:cs typeface="Aptos" pitchFamily="34" charset="-120"/>
              </a:rPr>
              <a:t>Contradiction</a:t>
            </a:r>
            <a:endParaRPr lang="en-US" sz="1070" dirty="0"/>
          </a:p>
        </p:txBody>
      </p:sp>
      <p:sp>
        <p:nvSpPr>
          <p:cNvPr id="13" name="Text 11"/>
          <p:cNvSpPr/>
          <p:nvPr/>
        </p:nvSpPr>
        <p:spPr>
          <a:xfrm>
            <a:off x="1920240" y="3008376"/>
            <a:ext cx="3826764" cy="338328"/>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070" dirty="0">
                <a:solidFill>
                  <a:srgbClr val="202124"/>
                </a:solidFill>
                <a:latin typeface="Aptos" pitchFamily="34" charset="0"/>
                <a:ea typeface="Aptos" pitchFamily="34" charset="-122"/>
                <a:cs typeface="Aptos" pitchFamily="34" charset="-120"/>
              </a:rPr>
              <a:t>caption contains a visually false detail</a:t>
            </a:r>
            <a:endParaRPr lang="en-US" sz="1070" dirty="0"/>
          </a:p>
        </p:txBody>
      </p:sp>
      <p:sp>
        <p:nvSpPr>
          <p:cNvPr id="14" name="Text 12"/>
          <p:cNvSpPr/>
          <p:nvPr/>
        </p:nvSpPr>
        <p:spPr>
          <a:xfrm>
            <a:off x="6355080" y="1645920"/>
            <a:ext cx="2286000" cy="228600"/>
          </a:xfrm>
          <a:prstGeom prst="rect">
            <a:avLst/>
          </a:prstGeom>
          <a:noFill/>
          <a:ln/>
        </p:spPr>
        <p:txBody>
          <a:bodyPr wrap="square" lIns="0" tIns="0" rIns="0" bIns="0" rtlCol="0" anchor="ctr"/>
          <a:lstStyle/>
          <a:p>
            <a:pPr indent="0" marL="0">
              <a:buNone/>
            </a:pPr>
            <a:r>
              <a:rPr lang="en-US" sz="1050" b="1" dirty="0">
                <a:solidFill>
                  <a:srgbClr val="1A73E8"/>
                </a:solidFill>
              </a:rPr>
              <a:t>Benchmark facts</a:t>
            </a:r>
            <a:endParaRPr lang="en-US" sz="1050" dirty="0"/>
          </a:p>
        </p:txBody>
      </p:sp>
      <p:sp>
        <p:nvSpPr>
          <p:cNvPr id="15" name="Text 13"/>
          <p:cNvSpPr/>
          <p:nvPr/>
        </p:nvSpPr>
        <p:spPr>
          <a:xfrm>
            <a:off x="6355080" y="1947672"/>
            <a:ext cx="1188720" cy="326898"/>
          </a:xfrm>
          <a:prstGeom prst="rect">
            <a:avLst/>
          </a:prstGeom>
          <a:noFill/>
          <a:ln/>
        </p:spPr>
        <p:txBody>
          <a:bodyPr wrap="square" lIns="0" tIns="0" rIns="0" bIns="0" rtlCol="0" anchor="ctr">
            <a:normAutofit/>
          </a:bodyPr>
          <a:lstStyle/>
          <a:p>
            <a:pPr algn="l" indent="0" marL="0">
              <a:buNone/>
            </a:pPr>
            <a:r>
              <a:rPr lang="en-US" sz="2300" b="1" dirty="0">
                <a:solidFill>
                  <a:srgbClr val="1A73E8"/>
                </a:solidFill>
                <a:latin typeface="Aptos Display" pitchFamily="34" charset="0"/>
                <a:ea typeface="Aptos Display" pitchFamily="34" charset="-122"/>
                <a:cs typeface="Aptos Display" pitchFamily="34" charset="-120"/>
              </a:rPr>
              <a:t>4,552</a:t>
            </a:r>
            <a:endParaRPr lang="en-US" sz="2300" dirty="0"/>
          </a:p>
        </p:txBody>
      </p:sp>
      <p:sp>
        <p:nvSpPr>
          <p:cNvPr id="16" name="Text 14"/>
          <p:cNvSpPr/>
          <p:nvPr/>
        </p:nvSpPr>
        <p:spPr>
          <a:xfrm>
            <a:off x="6355080" y="2302002"/>
            <a:ext cx="1188720" cy="267462"/>
          </a:xfrm>
          <a:prstGeom prst="rect">
            <a:avLst/>
          </a:prstGeom>
          <a:noFill/>
          <a:ln/>
        </p:spPr>
        <p:txBody>
          <a:bodyPr wrap="square" lIns="0" tIns="0" rIns="0" bIns="0" rtlCol="0" anchor="ctr">
            <a:normAutofit/>
          </a:bodyPr>
          <a:lstStyle/>
          <a:p>
            <a:pPr indent="0" marL="0">
              <a:buNone/>
            </a:pPr>
            <a:r>
              <a:rPr lang="en-US" sz="1020" dirty="0">
                <a:solidFill>
                  <a:srgbClr val="5F6368"/>
                </a:solidFill>
                <a:latin typeface="Aptos" pitchFamily="34" charset="0"/>
                <a:ea typeface="Aptos" pitchFamily="34" charset="-122"/>
                <a:cs typeface="Aptos" pitchFamily="34" charset="-120"/>
              </a:rPr>
              <a:t>total examples</a:t>
            </a:r>
            <a:endParaRPr lang="en-US" sz="1020" dirty="0"/>
          </a:p>
        </p:txBody>
      </p:sp>
      <p:sp>
        <p:nvSpPr>
          <p:cNvPr id="17" name="Text 15"/>
          <p:cNvSpPr/>
          <p:nvPr/>
        </p:nvSpPr>
        <p:spPr>
          <a:xfrm>
            <a:off x="7955280" y="1947672"/>
            <a:ext cx="1325880" cy="326898"/>
          </a:xfrm>
          <a:prstGeom prst="rect">
            <a:avLst/>
          </a:prstGeom>
          <a:noFill/>
          <a:ln/>
        </p:spPr>
        <p:txBody>
          <a:bodyPr wrap="square" lIns="0" tIns="0" rIns="0" bIns="0" rtlCol="0" anchor="ctr">
            <a:normAutofit/>
          </a:bodyPr>
          <a:lstStyle/>
          <a:p>
            <a:pPr algn="l" indent="0" marL="0">
              <a:buNone/>
            </a:pPr>
            <a:r>
              <a:rPr lang="en-US" sz="2300" b="1" dirty="0">
                <a:solidFill>
                  <a:srgbClr val="1A73E8"/>
                </a:solidFill>
                <a:latin typeface="Aptos Display" pitchFamily="34" charset="0"/>
                <a:ea typeface="Aptos Display" pitchFamily="34" charset="-122"/>
                <a:cs typeface="Aptos Display" pitchFamily="34" charset="-120"/>
              </a:rPr>
              <a:t>2,276</a:t>
            </a:r>
            <a:endParaRPr lang="en-US" sz="2300" dirty="0"/>
          </a:p>
        </p:txBody>
      </p:sp>
      <p:sp>
        <p:nvSpPr>
          <p:cNvPr id="18" name="Text 16"/>
          <p:cNvSpPr/>
          <p:nvPr/>
        </p:nvSpPr>
        <p:spPr>
          <a:xfrm>
            <a:off x="7955280" y="2302002"/>
            <a:ext cx="1325880" cy="267462"/>
          </a:xfrm>
          <a:prstGeom prst="rect">
            <a:avLst/>
          </a:prstGeom>
          <a:noFill/>
          <a:ln/>
        </p:spPr>
        <p:txBody>
          <a:bodyPr wrap="square" lIns="0" tIns="0" rIns="0" bIns="0" rtlCol="0" anchor="ctr">
            <a:normAutofit/>
          </a:bodyPr>
          <a:lstStyle/>
          <a:p>
            <a:pPr indent="0" marL="0">
              <a:buNone/>
            </a:pPr>
            <a:r>
              <a:rPr lang="en-US" sz="1020" dirty="0">
                <a:solidFill>
                  <a:srgbClr val="5F6368"/>
                </a:solidFill>
                <a:latin typeface="Aptos" pitchFamily="34" charset="0"/>
                <a:ea typeface="Aptos" pitchFamily="34" charset="-122"/>
                <a:cs typeface="Aptos" pitchFamily="34" charset="-120"/>
              </a:rPr>
              <a:t>source families</a:t>
            </a:r>
            <a:endParaRPr lang="en-US" sz="1020" dirty="0"/>
          </a:p>
        </p:txBody>
      </p:sp>
      <p:sp>
        <p:nvSpPr>
          <p:cNvPr id="19" name="Text 17"/>
          <p:cNvSpPr/>
          <p:nvPr/>
        </p:nvSpPr>
        <p:spPr>
          <a:xfrm>
            <a:off x="9646920" y="1947672"/>
            <a:ext cx="1280160" cy="326898"/>
          </a:xfrm>
          <a:prstGeom prst="rect">
            <a:avLst/>
          </a:prstGeom>
          <a:noFill/>
          <a:ln/>
        </p:spPr>
        <p:txBody>
          <a:bodyPr wrap="square" lIns="0" tIns="0" rIns="0" bIns="0" rtlCol="0" anchor="ctr">
            <a:normAutofit/>
          </a:bodyPr>
          <a:lstStyle/>
          <a:p>
            <a:pPr algn="l" indent="0" marL="0">
              <a:buNone/>
            </a:pPr>
            <a:r>
              <a:rPr lang="en-US" sz="2300" b="1" dirty="0">
                <a:solidFill>
                  <a:srgbClr val="1A73E8"/>
                </a:solidFill>
                <a:latin typeface="Aptos Display" pitchFamily="34" charset="0"/>
                <a:ea typeface="Aptos Display" pitchFamily="34" charset="-122"/>
                <a:cs typeface="Aptos Display" pitchFamily="34" charset="-120"/>
              </a:rPr>
              <a:t>1,239</a:t>
            </a:r>
            <a:endParaRPr lang="en-US" sz="2300" dirty="0"/>
          </a:p>
        </p:txBody>
      </p:sp>
      <p:sp>
        <p:nvSpPr>
          <p:cNvPr id="20" name="Text 18"/>
          <p:cNvSpPr/>
          <p:nvPr/>
        </p:nvSpPr>
        <p:spPr>
          <a:xfrm>
            <a:off x="9646920" y="2302002"/>
            <a:ext cx="1280160" cy="267462"/>
          </a:xfrm>
          <a:prstGeom prst="rect">
            <a:avLst/>
          </a:prstGeom>
          <a:noFill/>
          <a:ln/>
        </p:spPr>
        <p:txBody>
          <a:bodyPr wrap="square" lIns="0" tIns="0" rIns="0" bIns="0" rtlCol="0" anchor="ctr">
            <a:normAutofit/>
          </a:bodyPr>
          <a:lstStyle/>
          <a:p>
            <a:pPr indent="0" marL="0">
              <a:buNone/>
            </a:pPr>
            <a:r>
              <a:rPr lang="en-US" sz="1020" dirty="0">
                <a:solidFill>
                  <a:srgbClr val="5F6368"/>
                </a:solidFill>
                <a:latin typeface="Aptos" pitchFamily="34" charset="0"/>
                <a:ea typeface="Aptos" pitchFamily="34" charset="-122"/>
                <a:cs typeface="Aptos" pitchFamily="34" charset="-120"/>
              </a:rPr>
              <a:t>unique images</a:t>
            </a:r>
            <a:endParaRPr lang="en-US" sz="1020" dirty="0"/>
          </a:p>
        </p:txBody>
      </p:sp>
      <p:sp>
        <p:nvSpPr>
          <p:cNvPr id="21" name="Text 19"/>
          <p:cNvSpPr/>
          <p:nvPr/>
        </p:nvSpPr>
        <p:spPr>
          <a:xfrm>
            <a:off x="6355080" y="2816352"/>
            <a:ext cx="1371600" cy="326898"/>
          </a:xfrm>
          <a:prstGeom prst="rect">
            <a:avLst/>
          </a:prstGeom>
          <a:noFill/>
          <a:ln/>
        </p:spPr>
        <p:txBody>
          <a:bodyPr wrap="square" lIns="0" tIns="0" rIns="0" bIns="0" rtlCol="0" anchor="ctr">
            <a:normAutofit/>
          </a:bodyPr>
          <a:lstStyle/>
          <a:p>
            <a:pPr algn="l" indent="0" marL="0">
              <a:buNone/>
            </a:pPr>
            <a:r>
              <a:rPr lang="en-US" sz="2300" b="1" dirty="0">
                <a:solidFill>
                  <a:srgbClr val="1A73E8"/>
                </a:solidFill>
                <a:latin typeface="Aptos Display" pitchFamily="34" charset="0"/>
                <a:ea typeface="Aptos Display" pitchFamily="34" charset="-122"/>
                <a:cs typeface="Aptos Display" pitchFamily="34" charset="-120"/>
              </a:rPr>
              <a:t>684</a:t>
            </a:r>
            <a:endParaRPr lang="en-US" sz="2300" dirty="0"/>
          </a:p>
        </p:txBody>
      </p:sp>
      <p:sp>
        <p:nvSpPr>
          <p:cNvPr id="22" name="Text 20"/>
          <p:cNvSpPr/>
          <p:nvPr/>
        </p:nvSpPr>
        <p:spPr>
          <a:xfrm>
            <a:off x="6355080" y="3170682"/>
            <a:ext cx="1371600" cy="267462"/>
          </a:xfrm>
          <a:prstGeom prst="rect">
            <a:avLst/>
          </a:prstGeom>
          <a:noFill/>
          <a:ln/>
        </p:spPr>
        <p:txBody>
          <a:bodyPr wrap="square" lIns="0" tIns="0" rIns="0" bIns="0" rtlCol="0" anchor="ctr">
            <a:normAutofit/>
          </a:bodyPr>
          <a:lstStyle/>
          <a:p>
            <a:pPr indent="0" marL="0">
              <a:buNone/>
            </a:pPr>
            <a:r>
              <a:rPr lang="en-US" sz="1020" dirty="0">
                <a:solidFill>
                  <a:srgbClr val="5F6368"/>
                </a:solidFill>
                <a:latin typeface="Aptos" pitchFamily="34" charset="0"/>
                <a:ea typeface="Aptos" pitchFamily="34" charset="-122"/>
                <a:cs typeface="Aptos" pitchFamily="34" charset="-120"/>
              </a:rPr>
              <a:t>final test examples</a:t>
            </a:r>
            <a:endParaRPr lang="en-US" sz="1020" dirty="0"/>
          </a:p>
        </p:txBody>
      </p:sp>
      <p:sp>
        <p:nvSpPr>
          <p:cNvPr id="23" name="Text 21"/>
          <p:cNvSpPr/>
          <p:nvPr/>
        </p:nvSpPr>
        <p:spPr>
          <a:xfrm>
            <a:off x="7955280" y="2871216"/>
            <a:ext cx="3246120" cy="384048"/>
          </a:xfrm>
          <a:prstGeom prst="rect">
            <a:avLst/>
          </a:prstGeom>
          <a:noFill/>
          <a:ln/>
        </p:spPr>
        <p:txBody>
          <a:bodyPr wrap="square" lIns="0" tIns="0" rIns="0" bIns="0" rtlCol="0" anchor="ctr">
            <a:normAutofit/>
          </a:bodyPr>
          <a:lstStyle/>
          <a:p>
            <a:pPr indent="0" marL="0">
              <a:buNone/>
            </a:pPr>
            <a:r>
              <a:rPr lang="en-US" sz="1070" dirty="0">
                <a:solidFill>
                  <a:srgbClr val="5F6368"/>
                </a:solidFill>
              </a:rPr>
              <a:t>Labels are exactly balanced: 2,276 entailment and 2,276 contradiction. Splits are source-family level.</a:t>
            </a:r>
            <a:endParaRPr lang="en-US" sz="1070" dirty="0"/>
          </a:p>
        </p:txBody>
      </p:sp>
      <p:sp>
        <p:nvSpPr>
          <p:cNvPr id="24" name="Text 22"/>
          <p:cNvSpPr/>
          <p:nvPr/>
        </p:nvSpPr>
        <p:spPr>
          <a:xfrm>
            <a:off x="594360" y="3886200"/>
            <a:ext cx="1828800" cy="219456"/>
          </a:xfrm>
          <a:prstGeom prst="rect">
            <a:avLst/>
          </a:prstGeom>
          <a:noFill/>
          <a:ln/>
        </p:spPr>
        <p:txBody>
          <a:bodyPr wrap="square" lIns="0" tIns="0" rIns="0" bIns="0" rtlCol="0" anchor="ctr"/>
          <a:lstStyle/>
          <a:p>
            <a:pPr indent="0" marL="0">
              <a:buNone/>
            </a:pPr>
            <a:r>
              <a:rPr lang="en-US" sz="1050" b="1" dirty="0">
                <a:solidFill>
                  <a:srgbClr val="1A73E8"/>
                </a:solidFill>
              </a:rPr>
              <a:t>Edit families</a:t>
            </a:r>
            <a:endParaRPr lang="en-US" sz="1050" dirty="0"/>
          </a:p>
        </p:txBody>
      </p:sp>
      <p:pic>
        <p:nvPicPr>
          <p:cNvPr id="25" name="Image 0" descr="/mnt/data/pptx_extract/ppt/media/image2.jpeg">    </p:cNvPr>
          <p:cNvPicPr>
            <a:picLocks noChangeAspect="1"/>
          </p:cNvPicPr>
          <p:nvPr/>
        </p:nvPicPr>
        <p:blipFill>
          <a:blip r:embed="rId1"/>
          <a:srcRect l="0" r="0" t="8704" b="8704"/>
          <a:stretch/>
        </p:blipFill>
        <p:spPr>
          <a:xfrm>
            <a:off x="594360" y="4251960"/>
            <a:ext cx="2423160" cy="1325880"/>
          </a:xfrm>
          <a:prstGeom prst="rect">
            <a:avLst/>
          </a:prstGeom>
        </p:spPr>
      </p:pic>
      <p:sp>
        <p:nvSpPr>
          <p:cNvPr id="26" name="Text 23"/>
          <p:cNvSpPr/>
          <p:nvPr/>
        </p:nvSpPr>
        <p:spPr>
          <a:xfrm>
            <a:off x="594360" y="5669280"/>
            <a:ext cx="1371600" cy="201168"/>
          </a:xfrm>
          <a:prstGeom prst="rect">
            <a:avLst/>
          </a:prstGeom>
          <a:noFill/>
          <a:ln/>
        </p:spPr>
        <p:txBody>
          <a:bodyPr wrap="square" lIns="0" tIns="0" rIns="0" bIns="0" rtlCol="0" anchor="ctr"/>
          <a:lstStyle/>
          <a:p>
            <a:pPr indent="0" marL="0">
              <a:buNone/>
            </a:pPr>
            <a:r>
              <a:rPr lang="en-US" sz="950" b="1" dirty="0">
                <a:solidFill>
                  <a:srgbClr val="0B1324"/>
                </a:solidFill>
              </a:rPr>
              <a:t>Action</a:t>
            </a:r>
            <a:endParaRPr lang="en-US" sz="950" dirty="0"/>
          </a:p>
        </p:txBody>
      </p:sp>
      <p:sp>
        <p:nvSpPr>
          <p:cNvPr id="27" name="Text 24"/>
          <p:cNvSpPr/>
          <p:nvPr/>
        </p:nvSpPr>
        <p:spPr>
          <a:xfrm>
            <a:off x="594360" y="5916168"/>
            <a:ext cx="2286000" cy="182880"/>
          </a:xfrm>
          <a:prstGeom prst="rect">
            <a:avLst/>
          </a:prstGeom>
          <a:noFill/>
          <a:ln/>
        </p:spPr>
        <p:txBody>
          <a:bodyPr wrap="square" lIns="0" tIns="0" rIns="0" bIns="0" rtlCol="0" anchor="ctr">
            <a:normAutofit/>
          </a:bodyPr>
          <a:lstStyle/>
          <a:p>
            <a:pPr indent="0" marL="0">
              <a:buNone/>
            </a:pPr>
            <a:r>
              <a:rPr lang="en-US" sz="830" dirty="0">
                <a:solidFill>
                  <a:srgbClr val="5F6368"/>
                </a:solidFill>
              </a:rPr>
              <a:t>sitting → running</a:t>
            </a:r>
            <a:endParaRPr lang="en-US" sz="830" dirty="0"/>
          </a:p>
        </p:txBody>
      </p:sp>
      <p:pic>
        <p:nvPicPr>
          <p:cNvPr id="28" name="Image 1" descr="/mnt/data/pptx_extract/ppt/media/image3.jpeg">    </p:cNvPr>
          <p:cNvPicPr>
            <a:picLocks noChangeAspect="1"/>
          </p:cNvPicPr>
          <p:nvPr/>
        </p:nvPicPr>
        <p:blipFill>
          <a:blip r:embed="rId2"/>
          <a:srcRect l="0" r="0" t="29481" b="29481"/>
          <a:stretch/>
        </p:blipFill>
        <p:spPr>
          <a:xfrm>
            <a:off x="3447288" y="4251960"/>
            <a:ext cx="2423160" cy="1325880"/>
          </a:xfrm>
          <a:prstGeom prst="rect">
            <a:avLst/>
          </a:prstGeom>
        </p:spPr>
      </p:pic>
      <p:sp>
        <p:nvSpPr>
          <p:cNvPr id="29" name="Text 25"/>
          <p:cNvSpPr/>
          <p:nvPr/>
        </p:nvSpPr>
        <p:spPr>
          <a:xfrm>
            <a:off x="3447288" y="5669280"/>
            <a:ext cx="1371600" cy="201168"/>
          </a:xfrm>
          <a:prstGeom prst="rect">
            <a:avLst/>
          </a:prstGeom>
          <a:noFill/>
          <a:ln/>
        </p:spPr>
        <p:txBody>
          <a:bodyPr wrap="square" lIns="0" tIns="0" rIns="0" bIns="0" rtlCol="0" anchor="ctr"/>
          <a:lstStyle/>
          <a:p>
            <a:pPr indent="0" marL="0">
              <a:buNone/>
            </a:pPr>
            <a:r>
              <a:rPr lang="en-US" sz="950" b="1" dirty="0">
                <a:solidFill>
                  <a:srgbClr val="0B1324"/>
                </a:solidFill>
              </a:rPr>
              <a:t>Attribute</a:t>
            </a:r>
            <a:endParaRPr lang="en-US" sz="950" dirty="0"/>
          </a:p>
        </p:txBody>
      </p:sp>
      <p:sp>
        <p:nvSpPr>
          <p:cNvPr id="30" name="Text 26"/>
          <p:cNvSpPr/>
          <p:nvPr/>
        </p:nvSpPr>
        <p:spPr>
          <a:xfrm>
            <a:off x="3447288" y="5916168"/>
            <a:ext cx="2286000" cy="182880"/>
          </a:xfrm>
          <a:prstGeom prst="rect">
            <a:avLst/>
          </a:prstGeom>
          <a:noFill/>
          <a:ln/>
        </p:spPr>
        <p:txBody>
          <a:bodyPr wrap="square" lIns="0" tIns="0" rIns="0" bIns="0" rtlCol="0" anchor="ctr">
            <a:normAutofit/>
          </a:bodyPr>
          <a:lstStyle/>
          <a:p>
            <a:pPr indent="0" marL="0">
              <a:buNone/>
            </a:pPr>
            <a:r>
              <a:rPr lang="en-US" sz="830" dirty="0">
                <a:solidFill>
                  <a:srgbClr val="5F6368"/>
                </a:solidFill>
              </a:rPr>
              <a:t>blue sky → red sky</a:t>
            </a:r>
            <a:endParaRPr lang="en-US" sz="830" dirty="0"/>
          </a:p>
        </p:txBody>
      </p:sp>
      <p:pic>
        <p:nvPicPr>
          <p:cNvPr id="31" name="Image 2" descr="/mnt/data/pptx_extract/ppt/media/image4.jpeg">    </p:cNvPr>
          <p:cNvPicPr>
            <a:picLocks noChangeAspect="1"/>
          </p:cNvPicPr>
          <p:nvPr/>
        </p:nvPicPr>
        <p:blipFill>
          <a:blip r:embed="rId3"/>
          <a:srcRect l="0" r="0" t="13522" b="13522"/>
          <a:stretch/>
        </p:blipFill>
        <p:spPr>
          <a:xfrm>
            <a:off x="6300216" y="4251960"/>
            <a:ext cx="2423160" cy="1325880"/>
          </a:xfrm>
          <a:prstGeom prst="rect">
            <a:avLst/>
          </a:prstGeom>
        </p:spPr>
      </p:pic>
      <p:sp>
        <p:nvSpPr>
          <p:cNvPr id="32" name="Text 27"/>
          <p:cNvSpPr/>
          <p:nvPr/>
        </p:nvSpPr>
        <p:spPr>
          <a:xfrm>
            <a:off x="6300216" y="5669280"/>
            <a:ext cx="1371600" cy="201168"/>
          </a:xfrm>
          <a:prstGeom prst="rect">
            <a:avLst/>
          </a:prstGeom>
          <a:noFill/>
          <a:ln/>
        </p:spPr>
        <p:txBody>
          <a:bodyPr wrap="square" lIns="0" tIns="0" rIns="0" bIns="0" rtlCol="0" anchor="ctr"/>
          <a:lstStyle/>
          <a:p>
            <a:pPr indent="0" marL="0">
              <a:buNone/>
            </a:pPr>
            <a:r>
              <a:rPr lang="en-US" sz="950" b="1" dirty="0">
                <a:solidFill>
                  <a:srgbClr val="0B1324"/>
                </a:solidFill>
              </a:rPr>
              <a:t>Object</a:t>
            </a:r>
            <a:endParaRPr lang="en-US" sz="950" dirty="0"/>
          </a:p>
        </p:txBody>
      </p:sp>
      <p:sp>
        <p:nvSpPr>
          <p:cNvPr id="33" name="Text 28"/>
          <p:cNvSpPr/>
          <p:nvPr/>
        </p:nvSpPr>
        <p:spPr>
          <a:xfrm>
            <a:off x="6300216" y="5916168"/>
            <a:ext cx="2286000" cy="182880"/>
          </a:xfrm>
          <a:prstGeom prst="rect">
            <a:avLst/>
          </a:prstGeom>
          <a:noFill/>
          <a:ln/>
        </p:spPr>
        <p:txBody>
          <a:bodyPr wrap="square" lIns="0" tIns="0" rIns="0" bIns="0" rtlCol="0" anchor="ctr">
            <a:normAutofit/>
          </a:bodyPr>
          <a:lstStyle/>
          <a:p>
            <a:pPr indent="0" marL="0">
              <a:buNone/>
            </a:pPr>
            <a:r>
              <a:rPr lang="en-US" sz="830" dirty="0">
                <a:solidFill>
                  <a:srgbClr val="5F6368"/>
                </a:solidFill>
              </a:rPr>
              <a:t>couch → bench</a:t>
            </a:r>
            <a:endParaRPr lang="en-US" sz="830" dirty="0"/>
          </a:p>
        </p:txBody>
      </p:sp>
      <p:pic>
        <p:nvPicPr>
          <p:cNvPr id="34" name="Image 3" descr="/mnt/data/pptx_extract/ppt/media/image5.jpeg">    </p:cNvPr>
          <p:cNvPicPr>
            <a:picLocks noChangeAspect="1"/>
          </p:cNvPicPr>
          <p:nvPr/>
        </p:nvPicPr>
        <p:blipFill>
          <a:blip r:embed="rId4"/>
          <a:srcRect l="0" r="0" t="13522" b="13522"/>
          <a:stretch/>
        </p:blipFill>
        <p:spPr>
          <a:xfrm>
            <a:off x="9153144" y="4251960"/>
            <a:ext cx="2423160" cy="1325880"/>
          </a:xfrm>
          <a:prstGeom prst="rect">
            <a:avLst/>
          </a:prstGeom>
        </p:spPr>
      </p:pic>
      <p:sp>
        <p:nvSpPr>
          <p:cNvPr id="35" name="Text 29"/>
          <p:cNvSpPr/>
          <p:nvPr/>
        </p:nvSpPr>
        <p:spPr>
          <a:xfrm>
            <a:off x="9153144" y="5669280"/>
            <a:ext cx="1371600" cy="201168"/>
          </a:xfrm>
          <a:prstGeom prst="rect">
            <a:avLst/>
          </a:prstGeom>
          <a:noFill/>
          <a:ln/>
        </p:spPr>
        <p:txBody>
          <a:bodyPr wrap="square" lIns="0" tIns="0" rIns="0" bIns="0" rtlCol="0" anchor="ctr"/>
          <a:lstStyle/>
          <a:p>
            <a:pPr indent="0" marL="0">
              <a:buNone/>
            </a:pPr>
            <a:r>
              <a:rPr lang="en-US" sz="950" b="1" dirty="0">
                <a:solidFill>
                  <a:srgbClr val="0B1324"/>
                </a:solidFill>
              </a:rPr>
              <a:t>Count</a:t>
            </a:r>
            <a:endParaRPr lang="en-US" sz="950" dirty="0"/>
          </a:p>
        </p:txBody>
      </p:sp>
      <p:sp>
        <p:nvSpPr>
          <p:cNvPr id="36" name="Text 30"/>
          <p:cNvSpPr/>
          <p:nvPr/>
        </p:nvSpPr>
        <p:spPr>
          <a:xfrm>
            <a:off x="9153144" y="5916168"/>
            <a:ext cx="2286000" cy="182880"/>
          </a:xfrm>
          <a:prstGeom prst="rect">
            <a:avLst/>
          </a:prstGeom>
          <a:noFill/>
          <a:ln/>
        </p:spPr>
        <p:txBody>
          <a:bodyPr wrap="square" lIns="0" tIns="0" rIns="0" bIns="0" rtlCol="0" anchor="ctr">
            <a:normAutofit/>
          </a:bodyPr>
          <a:lstStyle/>
          <a:p>
            <a:pPr indent="0" marL="0">
              <a:buNone/>
            </a:pPr>
            <a:r>
              <a:rPr lang="en-US" sz="830" dirty="0">
                <a:solidFill>
                  <a:srgbClr val="5F6368"/>
                </a:solidFill>
              </a:rPr>
              <a:t>two people → one person</a:t>
            </a:r>
            <a:endParaRPr lang="en-US" sz="830" dirty="0"/>
          </a:p>
        </p:txBody>
      </p:sp>
      <p:sp>
        <p:nvSpPr>
          <p:cNvPr id="37" name="Text 31"/>
          <p:cNvSpPr/>
          <p:nvPr/>
        </p:nvSpPr>
        <p:spPr>
          <a:xfrm>
            <a:off x="502920" y="6446520"/>
            <a:ext cx="8686800" cy="164592"/>
          </a:xfrm>
          <a:prstGeom prst="rect">
            <a:avLst/>
          </a:prstGeom>
          <a:noFill/>
          <a:ln/>
        </p:spPr>
        <p:txBody>
          <a:bodyPr wrap="square" lIns="0" tIns="0" rIns="0" bIns="0" rtlCol="0" anchor="ctr">
            <a:normAutofit/>
          </a:bodyPr>
          <a:lstStyle/>
          <a:p>
            <a:pPr indent="0" marL="0">
              <a:buNone/>
            </a:pPr>
            <a:r>
              <a:rPr lang="en-US" sz="680" dirty="0">
                <a:solidFill>
                  <a:srgbClr val="6F7276"/>
                </a:solidFill>
                <a:latin typeface="Aptos" pitchFamily="34" charset="0"/>
                <a:ea typeface="Aptos" pitchFamily="34" charset="-122"/>
                <a:cs typeface="Aptos" pitchFamily="34" charset="-120"/>
              </a:rPr>
              <a:t>Benchmark artifact: project_artifacts/benchmark/final/benchmark_final.csv</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02920" y="320040"/>
            <a:ext cx="2148840" cy="228600"/>
          </a:xfrm>
          <a:prstGeom prst="rect">
            <a:avLst/>
          </a:prstGeom>
          <a:noFill/>
          <a:ln/>
        </p:spPr>
        <p:txBody>
          <a:bodyPr wrap="square" lIns="0" tIns="0" rIns="0" bIns="0" rtlCol="0" anchor="ctr">
            <a:normAutofit/>
          </a:bodyPr>
          <a:lstStyle/>
          <a:p>
            <a:pPr indent="0" marL="0">
              <a:buNone/>
            </a:pPr>
            <a:r>
              <a:rPr lang="en-US" sz="830" b="1" dirty="0">
                <a:solidFill>
                  <a:srgbClr val="1A73E8"/>
                </a:solidFill>
                <a:latin typeface="Aptos" pitchFamily="34" charset="0"/>
                <a:ea typeface="Aptos" pitchFamily="34" charset="-122"/>
                <a:cs typeface="Aptos" pitchFamily="34" charset="-120"/>
              </a:rPr>
              <a:t>MODEL</a:t>
            </a:r>
            <a:endParaRPr lang="en-US" sz="830" dirty="0"/>
          </a:p>
        </p:txBody>
      </p:sp>
      <p:sp>
        <p:nvSpPr>
          <p:cNvPr id="3" name="Text 1"/>
          <p:cNvSpPr/>
          <p:nvPr/>
        </p:nvSpPr>
        <p:spPr>
          <a:xfrm>
            <a:off x="502920" y="658368"/>
            <a:ext cx="9875520" cy="411480"/>
          </a:xfrm>
          <a:prstGeom prst="rect">
            <a:avLst/>
          </a:prstGeom>
          <a:noFill/>
          <a:ln/>
        </p:spPr>
        <p:txBody>
          <a:bodyPr wrap="square" lIns="0" tIns="0" rIns="0" bIns="0" rtlCol="0" anchor="ctr">
            <a:normAutofit/>
          </a:bodyPr>
          <a:lstStyle/>
          <a:p>
            <a:pPr indent="0" marL="0">
              <a:buNone/>
            </a:pPr>
            <a:r>
              <a:rPr lang="en-US" sz="2750" b="1" dirty="0">
                <a:solidFill>
                  <a:srgbClr val="0B1324"/>
                </a:solidFill>
                <a:latin typeface="Aptos Display" pitchFamily="34" charset="0"/>
                <a:ea typeface="Aptos Display" pitchFamily="34" charset="-122"/>
                <a:cs typeface="Aptos Display" pitchFamily="34" charset="-120"/>
              </a:rPr>
              <a:t>Model: test whether token-level fusion improves grounding</a:t>
            </a:r>
            <a:endParaRPr lang="en-US" sz="2750" dirty="0"/>
          </a:p>
        </p:txBody>
      </p:sp>
      <p:sp>
        <p:nvSpPr>
          <p:cNvPr id="4" name="Text 2"/>
          <p:cNvSpPr/>
          <p:nvPr/>
        </p:nvSpPr>
        <p:spPr>
          <a:xfrm>
            <a:off x="502920" y="1124712"/>
            <a:ext cx="10149840" cy="292608"/>
          </a:xfrm>
          <a:prstGeom prst="rect">
            <a:avLst/>
          </a:prstGeom>
          <a:noFill/>
          <a:ln/>
        </p:spPr>
        <p:txBody>
          <a:bodyPr wrap="square" lIns="0" tIns="0" rIns="0" bIns="0" rtlCol="0" anchor="ctr">
            <a:normAutofit/>
          </a:bodyPr>
          <a:lstStyle/>
          <a:p>
            <a:pPr indent="0" marL="0">
              <a:buNone/>
            </a:pPr>
            <a:r>
              <a:rPr lang="en-US" sz="1230" dirty="0">
                <a:solidFill>
                  <a:srgbClr val="5F6368"/>
                </a:solidFill>
                <a:latin typeface="Aptos" pitchFamily="34" charset="0"/>
                <a:ea typeface="Aptos" pitchFamily="34" charset="-122"/>
                <a:cs typeface="Aptos" pitchFamily="34" charset="-120"/>
              </a:rPr>
              <a:t>Same task, different ways of turning image-text evidence into a binary decision.</a:t>
            </a:r>
            <a:endParaRPr lang="en-US" sz="1230" dirty="0"/>
          </a:p>
        </p:txBody>
      </p:sp>
      <p:sp>
        <p:nvSpPr>
          <p:cNvPr id="5" name="Text 3"/>
          <p:cNvSpPr/>
          <p:nvPr/>
        </p:nvSpPr>
        <p:spPr>
          <a:xfrm>
            <a:off x="594360" y="1627632"/>
            <a:ext cx="1188720" cy="228600"/>
          </a:xfrm>
          <a:prstGeom prst="rect">
            <a:avLst/>
          </a:prstGeom>
          <a:noFill/>
          <a:ln/>
        </p:spPr>
        <p:txBody>
          <a:bodyPr wrap="square" lIns="0" tIns="0" rIns="0" bIns="0" rtlCol="0" anchor="ctr"/>
          <a:lstStyle/>
          <a:p>
            <a:pPr indent="0" marL="0">
              <a:buNone/>
            </a:pPr>
            <a:r>
              <a:rPr lang="en-US" sz="1050" b="1" dirty="0">
                <a:solidFill>
                  <a:srgbClr val="1A73E8"/>
                </a:solidFill>
              </a:rPr>
              <a:t>Hypothesis</a:t>
            </a:r>
            <a:endParaRPr lang="en-US" sz="1050" dirty="0"/>
          </a:p>
        </p:txBody>
      </p:sp>
      <p:sp>
        <p:nvSpPr>
          <p:cNvPr id="6" name="Text 4"/>
          <p:cNvSpPr/>
          <p:nvPr/>
        </p:nvSpPr>
        <p:spPr>
          <a:xfrm>
            <a:off x="594360" y="1920240"/>
            <a:ext cx="10744200" cy="502920"/>
          </a:xfrm>
          <a:prstGeom prst="rect">
            <a:avLst/>
          </a:prstGeom>
          <a:noFill/>
          <a:ln/>
        </p:spPr>
        <p:txBody>
          <a:bodyPr wrap="square" lIns="0" tIns="0" rIns="0" bIns="0" rtlCol="0" anchor="ctr">
            <a:normAutofit/>
          </a:bodyPr>
          <a:lstStyle/>
          <a:p>
            <a:pPr indent="0" marL="0">
              <a:buNone/>
            </a:pPr>
            <a:r>
              <a:rPr lang="en-US" sz="1620" b="1" dirty="0">
                <a:solidFill>
                  <a:srgbClr val="0B1324"/>
                </a:solidFill>
              </a:rPr>
              <a:t>Localized contradictions require token-level image–text alignment, so cross-attention over CLIP token states should outperform pooled similarity alone.</a:t>
            </a:r>
            <a:endParaRPr lang="en-US" sz="1620" dirty="0"/>
          </a:p>
        </p:txBody>
      </p:sp>
      <p:sp>
        <p:nvSpPr>
          <p:cNvPr id="7" name="Text 5"/>
          <p:cNvSpPr/>
          <p:nvPr/>
        </p:nvSpPr>
        <p:spPr>
          <a:xfrm>
            <a:off x="594360" y="2852928"/>
            <a:ext cx="3337560" cy="256032"/>
          </a:xfrm>
          <a:prstGeom prst="rect">
            <a:avLst/>
          </a:prstGeom>
          <a:solidFill>
            <a:srgbClr val="E8F0FE"/>
          </a:solidFill>
          <a:ln>
            <a:solidFill>
              <a:srgbClr val="E8F0FE">
                <a:alpha val="0"/>
              </a:srgbClr>
            </a:solidFill>
          </a:ln>
        </p:spPr>
        <p:txBody>
          <a:bodyPr wrap="square" lIns="635" tIns="635" rIns="635" bIns="635" rtlCol="0" anchor="ctr">
            <a:normAutofit/>
          </a:bodyPr>
          <a:lstStyle/>
          <a:p>
            <a:pPr algn="ctr" indent="0" marL="0">
              <a:buNone/>
            </a:pPr>
            <a:r>
              <a:rPr lang="en-US" sz="920" b="1" dirty="0">
                <a:solidFill>
                  <a:srgbClr val="1A73E8"/>
                </a:solidFill>
              </a:rPr>
              <a:t>1. Similarity baseline</a:t>
            </a:r>
            <a:endParaRPr lang="en-US" sz="920" dirty="0"/>
          </a:p>
        </p:txBody>
      </p:sp>
      <p:sp>
        <p:nvSpPr>
          <p:cNvPr id="8" name="Text 6"/>
          <p:cNvSpPr/>
          <p:nvPr/>
        </p:nvSpPr>
        <p:spPr>
          <a:xfrm>
            <a:off x="594360" y="3355848"/>
            <a:ext cx="3337560" cy="566928"/>
          </a:xfrm>
          <a:prstGeom prst="rect">
            <a:avLst/>
          </a:prstGeom>
          <a:noFill/>
          <a:ln/>
        </p:spPr>
        <p:txBody>
          <a:bodyPr wrap="square" lIns="0" tIns="0" rIns="0" bIns="0" rtlCol="0" anchor="ctr">
            <a:normAutofit/>
          </a:bodyPr>
          <a:lstStyle/>
          <a:p>
            <a:pPr indent="0" marL="0">
              <a:buNone/>
            </a:pPr>
            <a:r>
              <a:rPr lang="en-US" sz="1520" b="1" dirty="0">
                <a:solidFill>
                  <a:srgbClr val="0B1324"/>
                </a:solidFill>
              </a:rPr>
              <a:t>Raw OpenAI CLIP ViT-B/32</a:t>
            </a:r>
            <a:endParaRPr lang="en-US" sz="1520" dirty="0"/>
          </a:p>
        </p:txBody>
      </p:sp>
      <p:sp>
        <p:nvSpPr>
          <p:cNvPr id="9" name="Text 7"/>
          <p:cNvSpPr/>
          <p:nvPr/>
        </p:nvSpPr>
        <p:spPr>
          <a:xfrm>
            <a:off x="594360" y="4087368"/>
            <a:ext cx="3337560" cy="777240"/>
          </a:xfrm>
          <a:prstGeom prst="rect">
            <a:avLst/>
          </a:prstGeom>
          <a:noFill/>
          <a:ln/>
        </p:spPr>
        <p:txBody>
          <a:bodyPr wrap="square" lIns="0" tIns="0" rIns="0" bIns="0" rtlCol="0" anchor="ctr">
            <a:normAutofit/>
          </a:bodyPr>
          <a:lstStyle/>
          <a:p>
            <a:pPr indent="0" marL="0">
              <a:buNone/>
            </a:pPr>
            <a:r>
              <a:rPr lang="en-US" sz="1240" dirty="0">
                <a:solidFill>
                  <a:srgbClr val="5F6368"/>
                </a:solidFill>
              </a:rPr>
              <a:t>Cosine similarity between image and caption, then a validation-selected threshold.</a:t>
            </a:r>
            <a:endParaRPr lang="en-US" sz="1240" dirty="0"/>
          </a:p>
        </p:txBody>
      </p:sp>
      <p:sp>
        <p:nvSpPr>
          <p:cNvPr id="10" name="Text 8"/>
          <p:cNvSpPr/>
          <p:nvPr/>
        </p:nvSpPr>
        <p:spPr>
          <a:xfrm>
            <a:off x="4434840" y="2852928"/>
            <a:ext cx="3337560" cy="256032"/>
          </a:xfrm>
          <a:prstGeom prst="rect">
            <a:avLst/>
          </a:prstGeom>
          <a:solidFill>
            <a:srgbClr val="E6F4EA"/>
          </a:solidFill>
          <a:ln>
            <a:solidFill>
              <a:srgbClr val="E6F4EA">
                <a:alpha val="0"/>
              </a:srgbClr>
            </a:solidFill>
          </a:ln>
        </p:spPr>
        <p:txBody>
          <a:bodyPr wrap="square" lIns="635" tIns="635" rIns="635" bIns="635" rtlCol="0" anchor="ctr">
            <a:normAutofit/>
          </a:bodyPr>
          <a:lstStyle/>
          <a:p>
            <a:pPr algn="ctr" indent="0" marL="0">
              <a:buNone/>
            </a:pPr>
            <a:r>
              <a:rPr lang="en-US" sz="920" b="1" dirty="0">
                <a:solidFill>
                  <a:srgbClr val="188038"/>
                </a:solidFill>
              </a:rPr>
              <a:t>2. Frozen CLIP + learned heads</a:t>
            </a:r>
            <a:endParaRPr lang="en-US" sz="920" dirty="0"/>
          </a:p>
        </p:txBody>
      </p:sp>
      <p:sp>
        <p:nvSpPr>
          <p:cNvPr id="11" name="Text 9"/>
          <p:cNvSpPr/>
          <p:nvPr/>
        </p:nvSpPr>
        <p:spPr>
          <a:xfrm>
            <a:off x="4434840" y="3355848"/>
            <a:ext cx="3337560" cy="566928"/>
          </a:xfrm>
          <a:prstGeom prst="rect">
            <a:avLst/>
          </a:prstGeom>
          <a:noFill/>
          <a:ln/>
        </p:spPr>
        <p:txBody>
          <a:bodyPr wrap="square" lIns="0" tIns="0" rIns="0" bIns="0" rtlCol="0" anchor="ctr">
            <a:normAutofit/>
          </a:bodyPr>
          <a:lstStyle/>
          <a:p>
            <a:pPr indent="0" marL="0">
              <a:buNone/>
            </a:pPr>
            <a:r>
              <a:rPr lang="en-US" sz="1520" b="1" dirty="0">
                <a:solidFill>
                  <a:srgbClr val="0B1324"/>
                </a:solidFill>
              </a:rPr>
              <a:t>Linear Probe</a:t>
            </a:r>
            <a:endParaRPr lang="en-US" sz="1520" dirty="0"/>
          </a:p>
          <a:p>
            <a:pPr indent="0" marL="0">
              <a:buNone/>
            </a:pPr>
            <a:r>
              <a:rPr lang="en-US" sz="1520" b="1" dirty="0">
                <a:solidFill>
                  <a:srgbClr val="0B1324"/>
                </a:solidFill>
              </a:rPr>
              <a:t>Cross-Attention Head</a:t>
            </a:r>
            <a:endParaRPr lang="en-US" sz="1520" dirty="0"/>
          </a:p>
        </p:txBody>
      </p:sp>
      <p:sp>
        <p:nvSpPr>
          <p:cNvPr id="12" name="Text 10"/>
          <p:cNvSpPr/>
          <p:nvPr/>
        </p:nvSpPr>
        <p:spPr>
          <a:xfrm>
            <a:off x="4434840" y="4087368"/>
            <a:ext cx="3337560" cy="777240"/>
          </a:xfrm>
          <a:prstGeom prst="rect">
            <a:avLst/>
          </a:prstGeom>
          <a:noFill/>
          <a:ln/>
        </p:spPr>
        <p:txBody>
          <a:bodyPr wrap="square" lIns="0" tIns="0" rIns="0" bIns="0" rtlCol="0" anchor="ctr">
            <a:normAutofit/>
          </a:bodyPr>
          <a:lstStyle/>
          <a:p>
            <a:pPr indent="0" marL="0">
              <a:buNone/>
            </a:pPr>
            <a:r>
              <a:rPr lang="en-US" sz="1240" dirty="0">
                <a:solidFill>
                  <a:srgbClr val="5F6368"/>
                </a:solidFill>
              </a:rPr>
              <a:t>Backbone stays frozen. The linear probe uses pooled features; cross-attention fuses image and text tokens.</a:t>
            </a:r>
            <a:endParaRPr lang="en-US" sz="1240" dirty="0"/>
          </a:p>
        </p:txBody>
      </p:sp>
      <p:sp>
        <p:nvSpPr>
          <p:cNvPr id="13" name="Text 11"/>
          <p:cNvSpPr/>
          <p:nvPr/>
        </p:nvSpPr>
        <p:spPr>
          <a:xfrm>
            <a:off x="8275320" y="2852928"/>
            <a:ext cx="3337560" cy="256032"/>
          </a:xfrm>
          <a:prstGeom prst="rect">
            <a:avLst/>
          </a:prstGeom>
          <a:solidFill>
            <a:srgbClr val="FCE8E6"/>
          </a:solidFill>
          <a:ln>
            <a:solidFill>
              <a:srgbClr val="FCE8E6">
                <a:alpha val="0"/>
              </a:srgbClr>
            </a:solidFill>
          </a:ln>
        </p:spPr>
        <p:txBody>
          <a:bodyPr wrap="square" lIns="635" tIns="635" rIns="635" bIns="635" rtlCol="0" anchor="ctr">
            <a:normAutofit/>
          </a:bodyPr>
          <a:lstStyle/>
          <a:p>
            <a:pPr algn="ctr" indent="0" marL="0">
              <a:buNone/>
            </a:pPr>
            <a:r>
              <a:rPr lang="en-US" sz="920" b="1" dirty="0">
                <a:solidFill>
                  <a:srgbClr val="D93025"/>
                </a:solidFill>
              </a:rPr>
              <a:t>3. Zero-shot VLM reference</a:t>
            </a:r>
            <a:endParaRPr lang="en-US" sz="920" dirty="0"/>
          </a:p>
        </p:txBody>
      </p:sp>
      <p:sp>
        <p:nvSpPr>
          <p:cNvPr id="14" name="Text 12"/>
          <p:cNvSpPr/>
          <p:nvPr/>
        </p:nvSpPr>
        <p:spPr>
          <a:xfrm>
            <a:off x="8275320" y="3355848"/>
            <a:ext cx="3337560" cy="566928"/>
          </a:xfrm>
          <a:prstGeom prst="rect">
            <a:avLst/>
          </a:prstGeom>
          <a:noFill/>
          <a:ln/>
        </p:spPr>
        <p:txBody>
          <a:bodyPr wrap="square" lIns="0" tIns="0" rIns="0" bIns="0" rtlCol="0" anchor="ctr">
            <a:normAutofit/>
          </a:bodyPr>
          <a:lstStyle/>
          <a:p>
            <a:pPr indent="0" marL="0">
              <a:buNone/>
            </a:pPr>
            <a:r>
              <a:rPr lang="en-US" sz="1520" b="1" dirty="0">
                <a:solidFill>
                  <a:srgbClr val="0B1324"/>
                </a:solidFill>
              </a:rPr>
              <a:t>Qwen2.5-VL-3B-Instruct</a:t>
            </a:r>
            <a:endParaRPr lang="en-US" sz="1520" dirty="0"/>
          </a:p>
        </p:txBody>
      </p:sp>
      <p:sp>
        <p:nvSpPr>
          <p:cNvPr id="15" name="Text 13"/>
          <p:cNvSpPr/>
          <p:nvPr/>
        </p:nvSpPr>
        <p:spPr>
          <a:xfrm>
            <a:off x="8275320" y="4087368"/>
            <a:ext cx="3337560" cy="777240"/>
          </a:xfrm>
          <a:prstGeom prst="rect">
            <a:avLst/>
          </a:prstGeom>
          <a:noFill/>
          <a:ln/>
        </p:spPr>
        <p:txBody>
          <a:bodyPr wrap="square" lIns="0" tIns="0" rIns="0" bIns="0" rtlCol="0" anchor="ctr">
            <a:normAutofit/>
          </a:bodyPr>
          <a:lstStyle/>
          <a:p>
            <a:pPr indent="0" marL="0">
              <a:buNone/>
            </a:pPr>
            <a:r>
              <a:rPr lang="en-US" sz="1240" dirty="0">
                <a:solidFill>
                  <a:srgbClr val="5F6368"/>
                </a:solidFill>
              </a:rPr>
              <a:t>No task-specific training; predicts a JSON label and rationale from the image-caption pair.</a:t>
            </a:r>
            <a:endParaRPr lang="en-US" sz="1240" dirty="0"/>
          </a:p>
        </p:txBody>
      </p:sp>
      <p:sp>
        <p:nvSpPr>
          <p:cNvPr id="16" name="Text 14"/>
          <p:cNvSpPr/>
          <p:nvPr/>
        </p:nvSpPr>
        <p:spPr>
          <a:xfrm>
            <a:off x="594360" y="5815584"/>
            <a:ext cx="8823960" cy="237744"/>
          </a:xfrm>
          <a:prstGeom prst="rect">
            <a:avLst/>
          </a:prstGeom>
          <a:noFill/>
          <a:ln/>
        </p:spPr>
        <p:txBody>
          <a:bodyPr wrap="square" lIns="0" tIns="0" rIns="0" bIns="0" rtlCol="0" anchor="ctr">
            <a:normAutofit/>
          </a:bodyPr>
          <a:lstStyle/>
          <a:p>
            <a:pPr indent="0" marL="0">
              <a:buNone/>
            </a:pPr>
            <a:r>
              <a:rPr lang="en-US" sz="1070" dirty="0">
                <a:solidFill>
                  <a:srgbClr val="5F6368"/>
                </a:solidFill>
              </a:rPr>
              <a:t>Learned CLIP systems freeze openai/clip-vit-base-patch32 and train only lightweight task heads.</a:t>
            </a:r>
            <a:endParaRPr lang="en-US" sz="1070" dirty="0"/>
          </a:p>
        </p:txBody>
      </p:sp>
      <p:sp>
        <p:nvSpPr>
          <p:cNvPr id="17" name="Text 15"/>
          <p:cNvSpPr/>
          <p:nvPr/>
        </p:nvSpPr>
        <p:spPr>
          <a:xfrm>
            <a:off x="502920" y="6446520"/>
            <a:ext cx="8686800" cy="164592"/>
          </a:xfrm>
          <a:prstGeom prst="rect">
            <a:avLst/>
          </a:prstGeom>
          <a:noFill/>
          <a:ln/>
        </p:spPr>
        <p:txBody>
          <a:bodyPr wrap="square" lIns="0" tIns="0" rIns="0" bIns="0" rtlCol="0" anchor="ctr">
            <a:normAutofit/>
          </a:bodyPr>
          <a:lstStyle/>
          <a:p>
            <a:pPr indent="0" marL="0">
              <a:buNone/>
            </a:pPr>
            <a:r>
              <a:rPr lang="en-US" sz="680" dirty="0">
                <a:solidFill>
                  <a:srgbClr val="6F7276"/>
                </a:solidFill>
                <a:latin typeface="Aptos" pitchFamily="34" charset="0"/>
                <a:ea typeface="Aptos" pitchFamily="34" charset="-122"/>
                <a:cs typeface="Aptos" pitchFamily="34" charset="-120"/>
              </a:rPr>
              <a:t>Model details from project_artifacts/metrics/final/*_best_trial_final.json</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02920" y="320040"/>
            <a:ext cx="2148840" cy="228600"/>
          </a:xfrm>
          <a:prstGeom prst="rect">
            <a:avLst/>
          </a:prstGeom>
          <a:noFill/>
          <a:ln/>
        </p:spPr>
        <p:txBody>
          <a:bodyPr wrap="square" lIns="0" tIns="0" rIns="0" bIns="0" rtlCol="0" anchor="ctr">
            <a:normAutofit/>
          </a:bodyPr>
          <a:lstStyle/>
          <a:p>
            <a:pPr indent="0" marL="0">
              <a:buNone/>
            </a:pPr>
            <a:r>
              <a:rPr lang="en-US" sz="830" b="1" dirty="0">
                <a:solidFill>
                  <a:srgbClr val="1A73E8"/>
                </a:solidFill>
                <a:latin typeface="Aptos" pitchFamily="34" charset="0"/>
                <a:ea typeface="Aptos" pitchFamily="34" charset="-122"/>
                <a:cs typeface="Aptos" pitchFamily="34" charset="-120"/>
              </a:rPr>
              <a:t>EXPERIMENTS</a:t>
            </a:r>
            <a:endParaRPr lang="en-US" sz="830" dirty="0"/>
          </a:p>
        </p:txBody>
      </p:sp>
      <p:sp>
        <p:nvSpPr>
          <p:cNvPr id="3" name="Text 1"/>
          <p:cNvSpPr/>
          <p:nvPr/>
        </p:nvSpPr>
        <p:spPr>
          <a:xfrm>
            <a:off x="502920" y="658368"/>
            <a:ext cx="9875520" cy="411480"/>
          </a:xfrm>
          <a:prstGeom prst="rect">
            <a:avLst/>
          </a:prstGeom>
          <a:noFill/>
          <a:ln/>
        </p:spPr>
        <p:txBody>
          <a:bodyPr wrap="square" lIns="0" tIns="0" rIns="0" bIns="0" rtlCol="0" anchor="ctr">
            <a:normAutofit/>
          </a:bodyPr>
          <a:lstStyle/>
          <a:p>
            <a:pPr indent="0" marL="0">
              <a:buNone/>
            </a:pPr>
            <a:r>
              <a:rPr lang="en-US" sz="2750" b="1" dirty="0">
                <a:solidFill>
                  <a:srgbClr val="0B1324"/>
                </a:solidFill>
                <a:latin typeface="Aptos Display" pitchFamily="34" charset="0"/>
                <a:ea typeface="Aptos Display" pitchFamily="34" charset="-122"/>
                <a:cs typeface="Aptos Display" pitchFamily="34" charset="-120"/>
              </a:rPr>
              <a:t>Experiments: one held-out test set, validation-only selection</a:t>
            </a:r>
            <a:endParaRPr lang="en-US" sz="2750" dirty="0"/>
          </a:p>
        </p:txBody>
      </p:sp>
      <p:sp>
        <p:nvSpPr>
          <p:cNvPr id="4" name="Text 2"/>
          <p:cNvSpPr/>
          <p:nvPr/>
        </p:nvSpPr>
        <p:spPr>
          <a:xfrm>
            <a:off x="502920" y="1124712"/>
            <a:ext cx="10149840" cy="292608"/>
          </a:xfrm>
          <a:prstGeom prst="rect">
            <a:avLst/>
          </a:prstGeom>
          <a:noFill/>
          <a:ln/>
        </p:spPr>
        <p:txBody>
          <a:bodyPr wrap="square" lIns="0" tIns="0" rIns="0" bIns="0" rtlCol="0" anchor="ctr">
            <a:normAutofit/>
          </a:bodyPr>
          <a:lstStyle/>
          <a:p>
            <a:pPr indent="0" marL="0">
              <a:buNone/>
            </a:pPr>
            <a:r>
              <a:rPr lang="en-US" sz="1230" dirty="0">
                <a:solidFill>
                  <a:srgbClr val="5F6368"/>
                </a:solidFill>
                <a:latin typeface="Aptos" pitchFamily="34" charset="0"/>
                <a:ea typeface="Aptos" pitchFamily="34" charset="-122"/>
                <a:cs typeface="Aptos" pitchFamily="34" charset="-120"/>
              </a:rPr>
              <a:t>Validation chooses thresholds and best trials; Qwen2.5-VL-3B-Instruct stays zero-shot.</a:t>
            </a:r>
            <a:endParaRPr lang="en-US" sz="1230" dirty="0"/>
          </a:p>
        </p:txBody>
      </p:sp>
      <p:sp>
        <p:nvSpPr>
          <p:cNvPr id="5" name="Text 3"/>
          <p:cNvSpPr/>
          <p:nvPr/>
        </p:nvSpPr>
        <p:spPr>
          <a:xfrm>
            <a:off x="640080" y="1737360"/>
            <a:ext cx="1645920" cy="362102"/>
          </a:xfrm>
          <a:prstGeom prst="rect">
            <a:avLst/>
          </a:prstGeom>
          <a:noFill/>
          <a:ln/>
        </p:spPr>
        <p:txBody>
          <a:bodyPr wrap="square" lIns="0" tIns="0" rIns="0" bIns="0" rtlCol="0" anchor="ctr">
            <a:normAutofit/>
          </a:bodyPr>
          <a:lstStyle/>
          <a:p>
            <a:pPr algn="l" indent="0" marL="0">
              <a:buNone/>
            </a:pPr>
            <a:r>
              <a:rPr lang="en-US" sz="2300" b="1" dirty="0">
                <a:solidFill>
                  <a:srgbClr val="1A73E8"/>
                </a:solidFill>
                <a:latin typeface="Aptos Display" pitchFamily="34" charset="0"/>
                <a:ea typeface="Aptos Display" pitchFamily="34" charset="-122"/>
                <a:cs typeface="Aptos Display" pitchFamily="34" charset="-120"/>
              </a:rPr>
              <a:t>684</a:t>
            </a:r>
            <a:endParaRPr lang="en-US" sz="2300" dirty="0"/>
          </a:p>
        </p:txBody>
      </p:sp>
      <p:sp>
        <p:nvSpPr>
          <p:cNvPr id="6" name="Text 4"/>
          <p:cNvSpPr/>
          <p:nvPr/>
        </p:nvSpPr>
        <p:spPr>
          <a:xfrm>
            <a:off x="640080" y="2126894"/>
            <a:ext cx="1645920" cy="296266"/>
          </a:xfrm>
          <a:prstGeom prst="rect">
            <a:avLst/>
          </a:prstGeom>
          <a:noFill/>
          <a:ln/>
        </p:spPr>
        <p:txBody>
          <a:bodyPr wrap="square" lIns="0" tIns="0" rIns="0" bIns="0" rtlCol="0" anchor="ctr">
            <a:normAutofit/>
          </a:bodyPr>
          <a:lstStyle/>
          <a:p>
            <a:pPr indent="0" marL="0">
              <a:buNone/>
            </a:pPr>
            <a:r>
              <a:rPr lang="en-US" sz="1020" dirty="0">
                <a:solidFill>
                  <a:srgbClr val="5F6368"/>
                </a:solidFill>
                <a:latin typeface="Aptos" pitchFamily="34" charset="0"/>
                <a:ea typeface="Aptos" pitchFamily="34" charset="-122"/>
                <a:cs typeface="Aptos" pitchFamily="34" charset="-120"/>
              </a:rPr>
              <a:t>final test examples</a:t>
            </a:r>
            <a:endParaRPr lang="en-US" sz="1020" dirty="0"/>
          </a:p>
        </p:txBody>
      </p:sp>
      <p:sp>
        <p:nvSpPr>
          <p:cNvPr id="7" name="Text 5"/>
          <p:cNvSpPr/>
          <p:nvPr/>
        </p:nvSpPr>
        <p:spPr>
          <a:xfrm>
            <a:off x="658368" y="2651760"/>
            <a:ext cx="2011680" cy="713232"/>
          </a:xfrm>
          <a:prstGeom prst="rect">
            <a:avLst/>
          </a:prstGeom>
          <a:noFill/>
          <a:ln/>
        </p:spPr>
        <p:txBody>
          <a:bodyPr wrap="square" lIns="0" tIns="0" rIns="0" bIns="0" rtlCol="0" anchor="ctr">
            <a:normAutofit/>
          </a:bodyPr>
          <a:lstStyle/>
          <a:p>
            <a:pPr indent="0" marL="0">
              <a:buNone/>
            </a:pPr>
            <a:r>
              <a:rPr lang="en-US" sz="1420" b="1" dirty="0">
                <a:solidFill>
                  <a:srgbClr val="0B1324"/>
                </a:solidFill>
              </a:rPr>
              <a:t>342 entailment</a:t>
            </a:r>
            <a:endParaRPr lang="en-US" sz="1420" dirty="0"/>
          </a:p>
          <a:p>
            <a:pPr indent="0" marL="0">
              <a:buNone/>
            </a:pPr>
            <a:r>
              <a:rPr lang="en-US" sz="1420" b="1" dirty="0">
                <a:solidFill>
                  <a:srgbClr val="0B1324"/>
                </a:solidFill>
              </a:rPr>
              <a:t>342 contradiction</a:t>
            </a:r>
            <a:endParaRPr lang="en-US" sz="1420" dirty="0"/>
          </a:p>
          <a:p>
            <a:pPr indent="0" marL="0">
              <a:buNone/>
            </a:pPr>
            <a:r>
              <a:rPr lang="en-US" sz="1420" b="1" dirty="0">
                <a:solidFill>
                  <a:srgbClr val="0B1324"/>
                </a:solidFill>
              </a:rPr>
              <a:t>family-level split</a:t>
            </a:r>
            <a:endParaRPr lang="en-US" sz="1420" dirty="0"/>
          </a:p>
        </p:txBody>
      </p:sp>
      <p:sp>
        <p:nvSpPr>
          <p:cNvPr id="8" name="Text 6"/>
          <p:cNvSpPr/>
          <p:nvPr/>
        </p:nvSpPr>
        <p:spPr>
          <a:xfrm>
            <a:off x="2971800" y="1719072"/>
            <a:ext cx="2194560" cy="256032"/>
          </a:xfrm>
          <a:prstGeom prst="rect">
            <a:avLst/>
          </a:prstGeom>
          <a:noFill/>
          <a:ln/>
        </p:spPr>
        <p:txBody>
          <a:bodyPr wrap="square" lIns="0" tIns="0" rIns="0" bIns="0" rtlCol="0" anchor="ctr"/>
          <a:lstStyle/>
          <a:p>
            <a:pPr indent="0" marL="0">
              <a:buNone/>
            </a:pPr>
            <a:r>
              <a:rPr lang="en-US" sz="1050" b="1" dirty="0">
                <a:solidFill>
                  <a:srgbClr val="1A73E8"/>
                </a:solidFill>
              </a:rPr>
              <a:t>Validation used for</a:t>
            </a:r>
            <a:endParaRPr lang="en-US" sz="1050" dirty="0"/>
          </a:p>
        </p:txBody>
      </p:sp>
      <p:sp>
        <p:nvSpPr>
          <p:cNvPr id="9" name="Text 7"/>
          <p:cNvSpPr/>
          <p:nvPr/>
        </p:nvSpPr>
        <p:spPr>
          <a:xfrm>
            <a:off x="2971800" y="2057400"/>
            <a:ext cx="3703320" cy="1508760"/>
          </a:xfrm>
          <a:prstGeom prst="rect">
            <a:avLst/>
          </a:prstGeom>
          <a:noFill/>
          <a:ln/>
        </p:spPr>
        <p:txBody>
          <a:bodyPr wrap="square" lIns="508" tIns="508" rIns="508" bIns="508" rtlCol="0" anchor="ctr">
            <a:normAutofit/>
          </a:bodyPr>
          <a:lstStyle/>
          <a:p>
            <a:r>
              <a:rPr lang="en-US" sz="1360" dirty="0">
                <a:solidFill>
                  <a:srgbClr val="202124"/>
                </a:solidFill>
                <a:latin typeface="Aptos" pitchFamily="34" charset="0"/>
                <a:ea typeface="Aptos" pitchFamily="34" charset="-122"/>
                <a:cs typeface="Aptos" pitchFamily="34" charset="-120"/>
              </a:rPr>
              <a:t>CLIP similarity threshold</a:t>
            </a:r>
            <a:endParaRPr lang="en-US" sz="1360" dirty="0"/>
          </a:p>
          <a:p>
            <a:r>
              <a:rPr lang="en-US" sz="1360" dirty="0">
                <a:solidFill>
                  <a:srgbClr val="202124"/>
                </a:solidFill>
                <a:latin typeface="Aptos" pitchFamily="34" charset="0"/>
                <a:ea typeface="Aptos" pitchFamily="34" charset="-122"/>
                <a:cs typeface="Aptos" pitchFamily="34" charset="-120"/>
              </a:rPr>
              <a:t>Best linear-probe trial</a:t>
            </a:r>
            <a:endParaRPr lang="en-US" sz="1360" dirty="0"/>
          </a:p>
          <a:p>
            <a:r>
              <a:rPr lang="en-US" sz="1360" dirty="0">
                <a:solidFill>
                  <a:srgbClr val="202124"/>
                </a:solidFill>
                <a:latin typeface="Aptos" pitchFamily="34" charset="0"/>
                <a:ea typeface="Aptos" pitchFamily="34" charset="-122"/>
                <a:cs typeface="Aptos" pitchFamily="34" charset="-120"/>
              </a:rPr>
              <a:t>Best cross-attention trial</a:t>
            </a:r>
            <a:endParaRPr lang="en-US" sz="1360" dirty="0"/>
          </a:p>
          <a:p>
            <a:r>
              <a:rPr lang="en-US" sz="1360" dirty="0">
                <a:solidFill>
                  <a:srgbClr val="202124"/>
                </a:solidFill>
                <a:latin typeface="Aptos" pitchFamily="34" charset="0"/>
                <a:ea typeface="Aptos" pitchFamily="34" charset="-122"/>
                <a:cs typeface="Aptos" pitchFamily="34" charset="-120"/>
              </a:rPr>
              <a:t>No tuning for Qwen zero-shot baseline</a:t>
            </a:r>
            <a:endParaRPr lang="en-US" sz="1360" dirty="0"/>
          </a:p>
        </p:txBody>
      </p:sp>
      <p:sp>
        <p:nvSpPr>
          <p:cNvPr id="10" name="Text 8"/>
          <p:cNvSpPr/>
          <p:nvPr/>
        </p:nvSpPr>
        <p:spPr>
          <a:xfrm>
            <a:off x="2971800" y="3886200"/>
            <a:ext cx="1920240" cy="256032"/>
          </a:xfrm>
          <a:prstGeom prst="rect">
            <a:avLst/>
          </a:prstGeom>
          <a:noFill/>
          <a:ln/>
        </p:spPr>
        <p:txBody>
          <a:bodyPr wrap="square" lIns="0" tIns="0" rIns="0" bIns="0" rtlCol="0" anchor="ctr"/>
          <a:lstStyle/>
          <a:p>
            <a:pPr indent="0" marL="0">
              <a:buNone/>
            </a:pPr>
            <a:r>
              <a:rPr lang="en-US" sz="1050" b="1" dirty="0">
                <a:solidFill>
                  <a:srgbClr val="1A73E8"/>
                </a:solidFill>
              </a:rPr>
              <a:t>Metrics reported</a:t>
            </a:r>
            <a:endParaRPr lang="en-US" sz="1050" dirty="0"/>
          </a:p>
        </p:txBody>
      </p:sp>
      <p:sp>
        <p:nvSpPr>
          <p:cNvPr id="11" name="Text 9"/>
          <p:cNvSpPr/>
          <p:nvPr/>
        </p:nvSpPr>
        <p:spPr>
          <a:xfrm>
            <a:off x="2971800" y="4224528"/>
            <a:ext cx="3703320" cy="1143000"/>
          </a:xfrm>
          <a:prstGeom prst="rect">
            <a:avLst/>
          </a:prstGeom>
          <a:noFill/>
          <a:ln/>
        </p:spPr>
        <p:txBody>
          <a:bodyPr wrap="square" lIns="508" tIns="508" rIns="508" bIns="508" rtlCol="0" anchor="ctr">
            <a:normAutofit/>
          </a:bodyPr>
          <a:lstStyle/>
          <a:p>
            <a:r>
              <a:rPr lang="en-US" sz="1360" dirty="0">
                <a:solidFill>
                  <a:srgbClr val="202124"/>
                </a:solidFill>
                <a:latin typeface="Aptos" pitchFamily="34" charset="0"/>
                <a:ea typeface="Aptos" pitchFamily="34" charset="-122"/>
                <a:cs typeface="Aptos" pitchFamily="34" charset="-120"/>
              </a:rPr>
              <a:t>Accuracy and macro-F1</a:t>
            </a:r>
            <a:endParaRPr lang="en-US" sz="1360" dirty="0"/>
          </a:p>
          <a:p>
            <a:r>
              <a:rPr lang="en-US" sz="1360" dirty="0">
                <a:solidFill>
                  <a:srgbClr val="202124"/>
                </a:solidFill>
                <a:latin typeface="Aptos" pitchFamily="34" charset="0"/>
                <a:ea typeface="Aptos" pitchFamily="34" charset="-122"/>
                <a:cs typeface="Aptos" pitchFamily="34" charset="-120"/>
              </a:rPr>
              <a:t>Contradiction recall</a:t>
            </a:r>
            <a:endParaRPr lang="en-US" sz="1360" dirty="0"/>
          </a:p>
          <a:p>
            <a:r>
              <a:rPr lang="en-US" sz="1360" dirty="0">
                <a:solidFill>
                  <a:srgbClr val="202124"/>
                </a:solidFill>
                <a:latin typeface="Aptos" pitchFamily="34" charset="0"/>
                <a:ea typeface="Aptos" pitchFamily="34" charset="-122"/>
                <a:cs typeface="Aptos" pitchFamily="34" charset="-120"/>
              </a:rPr>
              <a:t>Per-edit-family accuracy</a:t>
            </a:r>
            <a:endParaRPr lang="en-US" sz="1360" dirty="0"/>
          </a:p>
        </p:txBody>
      </p:sp>
      <p:pic>
        <p:nvPicPr>
          <p:cNvPr id="12" name="Image 0" descr="/mnt/data/pptx_extract/ppt/media/image.png">    </p:cNvPr>
          <p:cNvPicPr>
            <a:picLocks noChangeAspect="1"/>
          </p:cNvPicPr>
          <p:nvPr/>
        </p:nvPicPr>
        <p:blipFill>
          <a:blip r:embed="rId1"/>
          <a:stretch>
            <a:fillRect/>
          </a:stretch>
        </p:blipFill>
        <p:spPr>
          <a:xfrm>
            <a:off x="7504547" y="1627632"/>
            <a:ext cx="3598947" cy="1965960"/>
          </a:xfrm>
          <a:prstGeom prst="rect">
            <a:avLst/>
          </a:prstGeom>
        </p:spPr>
      </p:pic>
      <p:pic>
        <p:nvPicPr>
          <p:cNvPr id="13" name="Image 1" descr="/mnt/data/pptx_extract/ppt/media/image2.png">    </p:cNvPr>
          <p:cNvPicPr>
            <a:picLocks noChangeAspect="1"/>
          </p:cNvPicPr>
          <p:nvPr/>
        </p:nvPicPr>
        <p:blipFill>
          <a:blip r:embed="rId2"/>
          <a:stretch>
            <a:fillRect/>
          </a:stretch>
        </p:blipFill>
        <p:spPr>
          <a:xfrm>
            <a:off x="7847013" y="3886200"/>
            <a:ext cx="2914014" cy="1755648"/>
          </a:xfrm>
          <a:prstGeom prst="rect">
            <a:avLst/>
          </a:prstGeom>
        </p:spPr>
      </p:pic>
      <p:sp>
        <p:nvSpPr>
          <p:cNvPr id="14" name="Text 10"/>
          <p:cNvSpPr/>
          <p:nvPr/>
        </p:nvSpPr>
        <p:spPr>
          <a:xfrm>
            <a:off x="502920" y="6446520"/>
            <a:ext cx="8686800" cy="164592"/>
          </a:xfrm>
          <a:prstGeom prst="rect">
            <a:avLst/>
          </a:prstGeom>
          <a:noFill/>
          <a:ln/>
        </p:spPr>
        <p:txBody>
          <a:bodyPr wrap="square" lIns="0" tIns="0" rIns="0" bIns="0" rtlCol="0" anchor="ctr">
            <a:normAutofit/>
          </a:bodyPr>
          <a:lstStyle/>
          <a:p>
            <a:pPr indent="0" marL="0">
              <a:buNone/>
            </a:pPr>
            <a:r>
              <a:rPr lang="en-US" sz="680" dirty="0">
                <a:solidFill>
                  <a:srgbClr val="6F7276"/>
                </a:solidFill>
                <a:latin typeface="Aptos" pitchFamily="34" charset="0"/>
                <a:ea typeface="Aptos" pitchFamily="34" charset="-122"/>
                <a:cs typeface="Aptos" pitchFamily="34" charset="-120"/>
              </a:rPr>
              <a:t>Training metrics: project_artifacts/metrics/final/*_best_trial_final.json</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02920" y="320040"/>
            <a:ext cx="2148840" cy="228600"/>
          </a:xfrm>
          <a:prstGeom prst="rect">
            <a:avLst/>
          </a:prstGeom>
          <a:noFill/>
          <a:ln/>
        </p:spPr>
        <p:txBody>
          <a:bodyPr wrap="square" lIns="0" tIns="0" rIns="0" bIns="0" rtlCol="0" anchor="ctr">
            <a:normAutofit/>
          </a:bodyPr>
          <a:lstStyle/>
          <a:p>
            <a:pPr indent="0" marL="0">
              <a:buNone/>
            </a:pPr>
            <a:r>
              <a:rPr lang="en-US" sz="830" b="1" dirty="0">
                <a:solidFill>
                  <a:srgbClr val="1A73E8"/>
                </a:solidFill>
                <a:latin typeface="Aptos" pitchFamily="34" charset="0"/>
                <a:ea typeface="Aptos" pitchFamily="34" charset="-122"/>
                <a:cs typeface="Aptos" pitchFamily="34" charset="-120"/>
              </a:rPr>
              <a:t>RESULTS</a:t>
            </a:r>
            <a:endParaRPr lang="en-US" sz="830" dirty="0"/>
          </a:p>
        </p:txBody>
      </p:sp>
      <p:sp>
        <p:nvSpPr>
          <p:cNvPr id="3" name="Text 1"/>
          <p:cNvSpPr/>
          <p:nvPr/>
        </p:nvSpPr>
        <p:spPr>
          <a:xfrm>
            <a:off x="502920" y="658368"/>
            <a:ext cx="9875520" cy="411480"/>
          </a:xfrm>
          <a:prstGeom prst="rect">
            <a:avLst/>
          </a:prstGeom>
          <a:noFill/>
          <a:ln/>
        </p:spPr>
        <p:txBody>
          <a:bodyPr wrap="square" lIns="0" tIns="0" rIns="0" bIns="0" rtlCol="0" anchor="ctr">
            <a:normAutofit/>
          </a:bodyPr>
          <a:lstStyle/>
          <a:p>
            <a:pPr indent="0" marL="0">
              <a:buNone/>
            </a:pPr>
            <a:r>
              <a:rPr lang="en-US" sz="2750" b="1" dirty="0">
                <a:solidFill>
                  <a:srgbClr val="0B1324"/>
                </a:solidFill>
                <a:latin typeface="Aptos Display" pitchFamily="34" charset="0"/>
                <a:ea typeface="Aptos Display" pitchFamily="34" charset="-122"/>
                <a:cs typeface="Aptos Display" pitchFamily="34" charset="-120"/>
              </a:rPr>
              <a:t>Results: token-level fusion wins overall</a:t>
            </a:r>
            <a:endParaRPr lang="en-US" sz="2750" dirty="0"/>
          </a:p>
        </p:txBody>
      </p:sp>
      <p:sp>
        <p:nvSpPr>
          <p:cNvPr id="4" name="Text 2"/>
          <p:cNvSpPr/>
          <p:nvPr/>
        </p:nvSpPr>
        <p:spPr>
          <a:xfrm>
            <a:off x="502920" y="1124712"/>
            <a:ext cx="10149840" cy="292608"/>
          </a:xfrm>
          <a:prstGeom prst="rect">
            <a:avLst/>
          </a:prstGeom>
          <a:noFill/>
          <a:ln/>
        </p:spPr>
        <p:txBody>
          <a:bodyPr wrap="square" lIns="0" tIns="0" rIns="0" bIns="0" rtlCol="0" anchor="ctr">
            <a:normAutofit/>
          </a:bodyPr>
          <a:lstStyle/>
          <a:p>
            <a:pPr indent="0" marL="0">
              <a:buNone/>
            </a:pPr>
            <a:r>
              <a:rPr lang="en-US" sz="1230" dirty="0">
                <a:solidFill>
                  <a:srgbClr val="5F6368"/>
                </a:solidFill>
                <a:latin typeface="Aptos" pitchFamily="34" charset="0"/>
                <a:ea typeface="Aptos" pitchFamily="34" charset="-122"/>
                <a:cs typeface="Aptos" pitchFamily="34" charset="-120"/>
              </a:rPr>
              <a:t>Best overall accuracy and strongest macro-F1 on the 684-example final test set.</a:t>
            </a:r>
            <a:endParaRPr lang="en-US" sz="1230" dirty="0"/>
          </a:p>
        </p:txBody>
      </p:sp>
      <p:sp>
        <p:nvSpPr>
          <p:cNvPr id="5" name="Text 3"/>
          <p:cNvSpPr/>
          <p:nvPr/>
        </p:nvSpPr>
        <p:spPr>
          <a:xfrm>
            <a:off x="640080" y="1700784"/>
            <a:ext cx="3291840" cy="274320"/>
          </a:xfrm>
          <a:prstGeom prst="rect">
            <a:avLst/>
          </a:prstGeom>
          <a:noFill/>
          <a:ln/>
        </p:spPr>
        <p:txBody>
          <a:bodyPr wrap="square" lIns="0" tIns="0" rIns="0" bIns="0" rtlCol="0" anchor="ctr"/>
          <a:lstStyle/>
          <a:p>
            <a:pPr indent="0" marL="0">
              <a:buNone/>
            </a:pPr>
            <a:r>
              <a:rPr lang="en-US" sz="1350" b="1" dirty="0">
                <a:solidFill>
                  <a:srgbClr val="0B1324"/>
                </a:solidFill>
              </a:rPr>
              <a:t>Cross-Attention Head</a:t>
            </a:r>
            <a:endParaRPr lang="en-US" sz="1350" dirty="0"/>
          </a:p>
        </p:txBody>
      </p:sp>
      <p:sp>
        <p:nvSpPr>
          <p:cNvPr id="6" name="Text 4"/>
          <p:cNvSpPr/>
          <p:nvPr/>
        </p:nvSpPr>
        <p:spPr>
          <a:xfrm>
            <a:off x="640080" y="2057400"/>
            <a:ext cx="2011680" cy="594360"/>
          </a:xfrm>
          <a:prstGeom prst="rect">
            <a:avLst/>
          </a:prstGeom>
          <a:noFill/>
          <a:ln/>
        </p:spPr>
        <p:txBody>
          <a:bodyPr wrap="square" lIns="0" tIns="0" rIns="0" bIns="0" rtlCol="0" anchor="ctr">
            <a:normAutofit/>
          </a:bodyPr>
          <a:lstStyle/>
          <a:p>
            <a:pPr indent="0" marL="0">
              <a:buNone/>
            </a:pPr>
            <a:r>
              <a:rPr lang="en-US" sz="3800" b="1" dirty="0">
                <a:solidFill>
                  <a:srgbClr val="188038"/>
                </a:solidFill>
              </a:rPr>
              <a:t>96.5%</a:t>
            </a:r>
            <a:endParaRPr lang="en-US" sz="3800" dirty="0"/>
          </a:p>
        </p:txBody>
      </p:sp>
      <p:sp>
        <p:nvSpPr>
          <p:cNvPr id="7" name="Text 5"/>
          <p:cNvSpPr/>
          <p:nvPr/>
        </p:nvSpPr>
        <p:spPr>
          <a:xfrm>
            <a:off x="640080" y="2697480"/>
            <a:ext cx="1828800" cy="228600"/>
          </a:xfrm>
          <a:prstGeom prst="rect">
            <a:avLst/>
          </a:prstGeom>
          <a:noFill/>
          <a:ln/>
        </p:spPr>
        <p:txBody>
          <a:bodyPr wrap="square" lIns="0" tIns="0" rIns="0" bIns="0" rtlCol="0" anchor="ctr"/>
          <a:lstStyle/>
          <a:p>
            <a:pPr indent="0" marL="0">
              <a:buNone/>
            </a:pPr>
            <a:r>
              <a:rPr lang="en-US" sz="1230" dirty="0">
                <a:solidFill>
                  <a:srgbClr val="5F6368"/>
                </a:solidFill>
              </a:rPr>
              <a:t>accuracy</a:t>
            </a:r>
            <a:endParaRPr lang="en-US" sz="1230" dirty="0"/>
          </a:p>
        </p:txBody>
      </p:sp>
      <p:sp>
        <p:nvSpPr>
          <p:cNvPr id="8" name="Text 6"/>
          <p:cNvSpPr/>
          <p:nvPr/>
        </p:nvSpPr>
        <p:spPr>
          <a:xfrm>
            <a:off x="2834640" y="2057400"/>
            <a:ext cx="2011680" cy="594360"/>
          </a:xfrm>
          <a:prstGeom prst="rect">
            <a:avLst/>
          </a:prstGeom>
          <a:noFill/>
          <a:ln/>
        </p:spPr>
        <p:txBody>
          <a:bodyPr wrap="square" lIns="0" tIns="0" rIns="0" bIns="0" rtlCol="0" anchor="ctr">
            <a:normAutofit/>
          </a:bodyPr>
          <a:lstStyle/>
          <a:p>
            <a:pPr indent="0" marL="0">
              <a:buNone/>
            </a:pPr>
            <a:r>
              <a:rPr lang="en-US" sz="3800" b="1" dirty="0">
                <a:solidFill>
                  <a:srgbClr val="188038"/>
                </a:solidFill>
              </a:rPr>
              <a:t>96.5%</a:t>
            </a:r>
            <a:endParaRPr lang="en-US" sz="3800" dirty="0"/>
          </a:p>
        </p:txBody>
      </p:sp>
      <p:sp>
        <p:nvSpPr>
          <p:cNvPr id="9" name="Text 7"/>
          <p:cNvSpPr/>
          <p:nvPr/>
        </p:nvSpPr>
        <p:spPr>
          <a:xfrm>
            <a:off x="2834640" y="2697480"/>
            <a:ext cx="1828800" cy="228600"/>
          </a:xfrm>
          <a:prstGeom prst="rect">
            <a:avLst/>
          </a:prstGeom>
          <a:noFill/>
          <a:ln/>
        </p:spPr>
        <p:txBody>
          <a:bodyPr wrap="square" lIns="0" tIns="0" rIns="0" bIns="0" rtlCol="0" anchor="ctr"/>
          <a:lstStyle/>
          <a:p>
            <a:pPr indent="0" marL="0">
              <a:buNone/>
            </a:pPr>
            <a:r>
              <a:rPr lang="en-US" sz="1230" dirty="0">
                <a:solidFill>
                  <a:srgbClr val="5F6368"/>
                </a:solidFill>
              </a:rPr>
              <a:t>macro-F1</a:t>
            </a:r>
            <a:endParaRPr lang="en-US" sz="1230" dirty="0"/>
          </a:p>
        </p:txBody>
      </p:sp>
      <p:sp>
        <p:nvSpPr>
          <p:cNvPr id="10" name="Text 8"/>
          <p:cNvSpPr/>
          <p:nvPr/>
        </p:nvSpPr>
        <p:spPr>
          <a:xfrm>
            <a:off x="640080" y="3429000"/>
            <a:ext cx="1463040" cy="228600"/>
          </a:xfrm>
          <a:prstGeom prst="rect">
            <a:avLst/>
          </a:prstGeom>
          <a:noFill/>
          <a:ln/>
        </p:spPr>
        <p:txBody>
          <a:bodyPr wrap="square" lIns="0" tIns="0" rIns="0" bIns="0" rtlCol="0" anchor="ctr"/>
          <a:lstStyle/>
          <a:p>
            <a:pPr indent="0" marL="0">
              <a:buNone/>
            </a:pPr>
            <a:r>
              <a:rPr lang="en-US" sz="1050" b="1" dirty="0">
                <a:solidFill>
                  <a:srgbClr val="1A73E8"/>
                </a:solidFill>
              </a:rPr>
              <a:t>Interpretation</a:t>
            </a:r>
            <a:endParaRPr lang="en-US" sz="1050" dirty="0"/>
          </a:p>
        </p:txBody>
      </p:sp>
      <p:sp>
        <p:nvSpPr>
          <p:cNvPr id="11" name="Text 9"/>
          <p:cNvSpPr/>
          <p:nvPr/>
        </p:nvSpPr>
        <p:spPr>
          <a:xfrm>
            <a:off x="640080" y="3749040"/>
            <a:ext cx="4617720" cy="822960"/>
          </a:xfrm>
          <a:prstGeom prst="rect">
            <a:avLst/>
          </a:prstGeom>
          <a:noFill/>
          <a:ln/>
        </p:spPr>
        <p:txBody>
          <a:bodyPr wrap="square" lIns="0" tIns="0" rIns="0" bIns="0" rtlCol="0" anchor="ctr">
            <a:normAutofit/>
          </a:bodyPr>
          <a:lstStyle/>
          <a:p>
            <a:pPr indent="0" marL="0">
              <a:buNone/>
            </a:pPr>
            <a:r>
              <a:rPr lang="en-US" sz="1420" dirty="0">
                <a:solidFill>
                  <a:srgbClr val="5F6368"/>
                </a:solidFill>
              </a:rPr>
              <a:t>Raw CLIP similarity is not enough. A pooled linear probe is much stronger, but token-level cross-attention provides the clearest grounding signal.</a:t>
            </a:r>
            <a:endParaRPr lang="en-US" sz="1420" dirty="0"/>
          </a:p>
        </p:txBody>
      </p:sp>
      <p:sp>
        <p:nvSpPr>
          <p:cNvPr id="12" name="Text 10"/>
          <p:cNvSpPr/>
          <p:nvPr/>
        </p:nvSpPr>
        <p:spPr>
          <a:xfrm>
            <a:off x="5715000" y="1737360"/>
            <a:ext cx="2409444" cy="329184"/>
          </a:xfrm>
          <a:prstGeom prst="rect">
            <a:avLst/>
          </a:prstGeom>
          <a:solidFill>
            <a:srgbClr val="0B1324"/>
          </a:solidFill>
          <a:ln w="4445">
            <a:solidFill>
              <a:srgbClr val="0B1324"/>
            </a:solidFill>
          </a:ln>
        </p:spPr>
        <p:txBody>
          <a:bodyPr wrap="square" lIns="635" tIns="635" rIns="635" bIns="635" rtlCol="0" anchor="ctr">
            <a:normAutofit/>
          </a:bodyPr>
          <a:lstStyle/>
          <a:p>
            <a:pPr indent="0" marL="0">
              <a:buNone/>
            </a:pPr>
            <a:r>
              <a:rPr lang="en-US" sz="870" b="1" dirty="0">
                <a:solidFill>
                  <a:srgbClr val="FFFFFF"/>
                </a:solidFill>
                <a:latin typeface="Aptos" pitchFamily="34" charset="0"/>
                <a:ea typeface="Aptos" pitchFamily="34" charset="-122"/>
                <a:cs typeface="Aptos" pitchFamily="34" charset="-120"/>
              </a:rPr>
              <a:t>Model</a:t>
            </a:r>
            <a:endParaRPr lang="en-US" sz="870" dirty="0"/>
          </a:p>
        </p:txBody>
      </p:sp>
      <p:sp>
        <p:nvSpPr>
          <p:cNvPr id="13" name="Text 11"/>
          <p:cNvSpPr/>
          <p:nvPr/>
        </p:nvSpPr>
        <p:spPr>
          <a:xfrm>
            <a:off x="8138160" y="1737360"/>
            <a:ext cx="790956" cy="329184"/>
          </a:xfrm>
          <a:prstGeom prst="rect">
            <a:avLst/>
          </a:prstGeom>
          <a:solidFill>
            <a:srgbClr val="0B1324"/>
          </a:solidFill>
          <a:ln w="4445">
            <a:solidFill>
              <a:srgbClr val="0B1324"/>
            </a:solidFill>
          </a:ln>
        </p:spPr>
        <p:txBody>
          <a:bodyPr wrap="square" lIns="635" tIns="635" rIns="635" bIns="635" rtlCol="0" anchor="ctr">
            <a:normAutofit/>
          </a:bodyPr>
          <a:lstStyle/>
          <a:p>
            <a:pPr indent="0" marL="0">
              <a:buNone/>
            </a:pPr>
            <a:r>
              <a:rPr lang="en-US" sz="870" b="1" dirty="0">
                <a:solidFill>
                  <a:srgbClr val="FFFFFF"/>
                </a:solidFill>
                <a:latin typeface="Aptos" pitchFamily="34" charset="0"/>
                <a:ea typeface="Aptos" pitchFamily="34" charset="-122"/>
                <a:cs typeface="Aptos" pitchFamily="34" charset="-120"/>
              </a:rPr>
              <a:t>Accuracy</a:t>
            </a:r>
            <a:endParaRPr lang="en-US" sz="870" dirty="0"/>
          </a:p>
        </p:txBody>
      </p:sp>
      <p:sp>
        <p:nvSpPr>
          <p:cNvPr id="14" name="Text 12"/>
          <p:cNvSpPr/>
          <p:nvPr/>
        </p:nvSpPr>
        <p:spPr>
          <a:xfrm>
            <a:off x="8942832" y="1737360"/>
            <a:ext cx="790956" cy="329184"/>
          </a:xfrm>
          <a:prstGeom prst="rect">
            <a:avLst/>
          </a:prstGeom>
          <a:solidFill>
            <a:srgbClr val="0B1324"/>
          </a:solidFill>
          <a:ln w="4445">
            <a:solidFill>
              <a:srgbClr val="0B1324"/>
            </a:solidFill>
          </a:ln>
        </p:spPr>
        <p:txBody>
          <a:bodyPr wrap="square" lIns="635" tIns="635" rIns="635" bIns="635" rtlCol="0" anchor="ctr">
            <a:normAutofit/>
          </a:bodyPr>
          <a:lstStyle/>
          <a:p>
            <a:pPr indent="0" marL="0">
              <a:buNone/>
            </a:pPr>
            <a:r>
              <a:rPr lang="en-US" sz="870" b="1" dirty="0">
                <a:solidFill>
                  <a:srgbClr val="FFFFFF"/>
                </a:solidFill>
                <a:latin typeface="Aptos" pitchFamily="34" charset="0"/>
                <a:ea typeface="Aptos" pitchFamily="34" charset="-122"/>
                <a:cs typeface="Aptos" pitchFamily="34" charset="-120"/>
              </a:rPr>
              <a:t>Macro-F1</a:t>
            </a:r>
            <a:endParaRPr lang="en-US" sz="870" dirty="0"/>
          </a:p>
        </p:txBody>
      </p:sp>
      <p:sp>
        <p:nvSpPr>
          <p:cNvPr id="15" name="Text 13"/>
          <p:cNvSpPr/>
          <p:nvPr/>
        </p:nvSpPr>
        <p:spPr>
          <a:xfrm>
            <a:off x="9747504" y="1737360"/>
            <a:ext cx="864108" cy="329184"/>
          </a:xfrm>
          <a:prstGeom prst="rect">
            <a:avLst/>
          </a:prstGeom>
          <a:solidFill>
            <a:srgbClr val="0B1324"/>
          </a:solidFill>
          <a:ln w="4445">
            <a:solidFill>
              <a:srgbClr val="0B1324"/>
            </a:solidFill>
          </a:ln>
        </p:spPr>
        <p:txBody>
          <a:bodyPr wrap="square" lIns="635" tIns="635" rIns="635" bIns="635" rtlCol="0" anchor="ctr">
            <a:normAutofit/>
          </a:bodyPr>
          <a:lstStyle/>
          <a:p>
            <a:pPr indent="0" marL="0">
              <a:buNone/>
            </a:pPr>
            <a:r>
              <a:rPr lang="en-US" sz="870" b="1" dirty="0">
                <a:solidFill>
                  <a:srgbClr val="FFFFFF"/>
                </a:solidFill>
                <a:latin typeface="Aptos" pitchFamily="34" charset="0"/>
                <a:ea typeface="Aptos" pitchFamily="34" charset="-122"/>
                <a:cs typeface="Aptos" pitchFamily="34" charset="-120"/>
              </a:rPr>
              <a:t>Contrad. F1</a:t>
            </a:r>
            <a:endParaRPr lang="en-US" sz="870" dirty="0"/>
          </a:p>
        </p:txBody>
      </p:sp>
      <p:sp>
        <p:nvSpPr>
          <p:cNvPr id="16" name="Text 14"/>
          <p:cNvSpPr/>
          <p:nvPr/>
        </p:nvSpPr>
        <p:spPr>
          <a:xfrm>
            <a:off x="10625328" y="1737360"/>
            <a:ext cx="864108" cy="329184"/>
          </a:xfrm>
          <a:prstGeom prst="rect">
            <a:avLst/>
          </a:prstGeom>
          <a:solidFill>
            <a:srgbClr val="0B1324"/>
          </a:solidFill>
          <a:ln w="4445">
            <a:solidFill>
              <a:srgbClr val="0B1324"/>
            </a:solidFill>
          </a:ln>
        </p:spPr>
        <p:txBody>
          <a:bodyPr wrap="square" lIns="635" tIns="635" rIns="635" bIns="635" rtlCol="0" anchor="ctr">
            <a:normAutofit/>
          </a:bodyPr>
          <a:lstStyle/>
          <a:p>
            <a:pPr indent="0" marL="0">
              <a:buNone/>
            </a:pPr>
            <a:r>
              <a:rPr lang="en-US" sz="870" b="1" dirty="0">
                <a:solidFill>
                  <a:srgbClr val="FFFFFF"/>
                </a:solidFill>
                <a:latin typeface="Aptos" pitchFamily="34" charset="0"/>
                <a:ea typeface="Aptos" pitchFamily="34" charset="-122"/>
                <a:cs typeface="Aptos" pitchFamily="34" charset="-120"/>
              </a:rPr>
              <a:t>Entail. F1</a:t>
            </a:r>
            <a:endParaRPr lang="en-US" sz="870" dirty="0"/>
          </a:p>
        </p:txBody>
      </p:sp>
      <p:sp>
        <p:nvSpPr>
          <p:cNvPr id="17" name="Text 15"/>
          <p:cNvSpPr/>
          <p:nvPr/>
        </p:nvSpPr>
        <p:spPr>
          <a:xfrm>
            <a:off x="5715000" y="2066544"/>
            <a:ext cx="2409444"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850" dirty="0">
                <a:solidFill>
                  <a:srgbClr val="202124"/>
                </a:solidFill>
                <a:latin typeface="Aptos" pitchFamily="34" charset="0"/>
                <a:ea typeface="Aptos" pitchFamily="34" charset="-122"/>
                <a:cs typeface="Aptos" pitchFamily="34" charset="-120"/>
              </a:rPr>
              <a:t>Raw OpenAI CLIP ViT-B/32</a:t>
            </a:r>
            <a:endParaRPr lang="en-US" sz="850" dirty="0"/>
          </a:p>
        </p:txBody>
      </p:sp>
      <p:sp>
        <p:nvSpPr>
          <p:cNvPr id="18" name="Text 16"/>
          <p:cNvSpPr/>
          <p:nvPr/>
        </p:nvSpPr>
        <p:spPr>
          <a:xfrm>
            <a:off x="8138160" y="2066544"/>
            <a:ext cx="790956"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0.626</a:t>
            </a:r>
            <a:endParaRPr lang="en-US" sz="940" dirty="0"/>
          </a:p>
        </p:txBody>
      </p:sp>
      <p:sp>
        <p:nvSpPr>
          <p:cNvPr id="19" name="Text 17"/>
          <p:cNvSpPr/>
          <p:nvPr/>
        </p:nvSpPr>
        <p:spPr>
          <a:xfrm>
            <a:off x="8942832" y="2066544"/>
            <a:ext cx="790956"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0.626</a:t>
            </a:r>
            <a:endParaRPr lang="en-US" sz="940" dirty="0"/>
          </a:p>
        </p:txBody>
      </p:sp>
      <p:sp>
        <p:nvSpPr>
          <p:cNvPr id="20" name="Text 18"/>
          <p:cNvSpPr/>
          <p:nvPr/>
        </p:nvSpPr>
        <p:spPr>
          <a:xfrm>
            <a:off x="9747504" y="2066544"/>
            <a:ext cx="864108"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0.619</a:t>
            </a:r>
            <a:endParaRPr lang="en-US" sz="940" dirty="0"/>
          </a:p>
        </p:txBody>
      </p:sp>
      <p:sp>
        <p:nvSpPr>
          <p:cNvPr id="21" name="Text 19"/>
          <p:cNvSpPr/>
          <p:nvPr/>
        </p:nvSpPr>
        <p:spPr>
          <a:xfrm>
            <a:off x="10625328" y="2066544"/>
            <a:ext cx="864108"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0.632</a:t>
            </a:r>
            <a:endParaRPr lang="en-US" sz="940" dirty="0"/>
          </a:p>
        </p:txBody>
      </p:sp>
      <p:sp>
        <p:nvSpPr>
          <p:cNvPr id="22" name="Text 20"/>
          <p:cNvSpPr/>
          <p:nvPr/>
        </p:nvSpPr>
        <p:spPr>
          <a:xfrm>
            <a:off x="5715000" y="2450592"/>
            <a:ext cx="2409444"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850" dirty="0">
                <a:solidFill>
                  <a:srgbClr val="202124"/>
                </a:solidFill>
                <a:latin typeface="Aptos" pitchFamily="34" charset="0"/>
                <a:ea typeface="Aptos" pitchFamily="34" charset="-122"/>
                <a:cs typeface="Aptos" pitchFamily="34" charset="-120"/>
              </a:rPr>
              <a:t>OpenAI CLIP + Linear Probe</a:t>
            </a:r>
            <a:endParaRPr lang="en-US" sz="850" dirty="0"/>
          </a:p>
        </p:txBody>
      </p:sp>
      <p:sp>
        <p:nvSpPr>
          <p:cNvPr id="23" name="Text 21"/>
          <p:cNvSpPr/>
          <p:nvPr/>
        </p:nvSpPr>
        <p:spPr>
          <a:xfrm>
            <a:off x="8138160" y="2450592"/>
            <a:ext cx="790956"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0.896</a:t>
            </a:r>
            <a:endParaRPr lang="en-US" sz="940" dirty="0"/>
          </a:p>
        </p:txBody>
      </p:sp>
      <p:sp>
        <p:nvSpPr>
          <p:cNvPr id="24" name="Text 22"/>
          <p:cNvSpPr/>
          <p:nvPr/>
        </p:nvSpPr>
        <p:spPr>
          <a:xfrm>
            <a:off x="8942832" y="2450592"/>
            <a:ext cx="790956"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0.896</a:t>
            </a:r>
            <a:endParaRPr lang="en-US" sz="940" dirty="0"/>
          </a:p>
        </p:txBody>
      </p:sp>
      <p:sp>
        <p:nvSpPr>
          <p:cNvPr id="25" name="Text 23"/>
          <p:cNvSpPr/>
          <p:nvPr/>
        </p:nvSpPr>
        <p:spPr>
          <a:xfrm>
            <a:off x="9747504" y="2450592"/>
            <a:ext cx="864108"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0.897</a:t>
            </a:r>
            <a:endParaRPr lang="en-US" sz="940" dirty="0"/>
          </a:p>
        </p:txBody>
      </p:sp>
      <p:sp>
        <p:nvSpPr>
          <p:cNvPr id="26" name="Text 24"/>
          <p:cNvSpPr/>
          <p:nvPr/>
        </p:nvSpPr>
        <p:spPr>
          <a:xfrm>
            <a:off x="10625328" y="2450592"/>
            <a:ext cx="864108"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0.895</a:t>
            </a:r>
            <a:endParaRPr lang="en-US" sz="940" dirty="0"/>
          </a:p>
        </p:txBody>
      </p:sp>
      <p:sp>
        <p:nvSpPr>
          <p:cNvPr id="27" name="Text 25"/>
          <p:cNvSpPr/>
          <p:nvPr/>
        </p:nvSpPr>
        <p:spPr>
          <a:xfrm>
            <a:off x="5715000" y="2834640"/>
            <a:ext cx="2409444"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850" b="1" dirty="0">
                <a:solidFill>
                  <a:srgbClr val="188038"/>
                </a:solidFill>
                <a:latin typeface="Aptos" pitchFamily="34" charset="0"/>
                <a:ea typeface="Aptos" pitchFamily="34" charset="-122"/>
                <a:cs typeface="Aptos" pitchFamily="34" charset="-120"/>
              </a:rPr>
              <a:t>OpenAI CLIP + Cross-Attention Head</a:t>
            </a:r>
            <a:endParaRPr lang="en-US" sz="850" dirty="0"/>
          </a:p>
        </p:txBody>
      </p:sp>
      <p:sp>
        <p:nvSpPr>
          <p:cNvPr id="28" name="Text 26"/>
          <p:cNvSpPr/>
          <p:nvPr/>
        </p:nvSpPr>
        <p:spPr>
          <a:xfrm>
            <a:off x="8138160" y="2834640"/>
            <a:ext cx="790956"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b="1" dirty="0">
                <a:solidFill>
                  <a:srgbClr val="188038"/>
                </a:solidFill>
                <a:latin typeface="Aptos" pitchFamily="34" charset="0"/>
                <a:ea typeface="Aptos" pitchFamily="34" charset="-122"/>
                <a:cs typeface="Aptos" pitchFamily="34" charset="-120"/>
              </a:rPr>
              <a:t>0.965</a:t>
            </a:r>
            <a:endParaRPr lang="en-US" sz="940" dirty="0"/>
          </a:p>
        </p:txBody>
      </p:sp>
      <p:sp>
        <p:nvSpPr>
          <p:cNvPr id="29" name="Text 27"/>
          <p:cNvSpPr/>
          <p:nvPr/>
        </p:nvSpPr>
        <p:spPr>
          <a:xfrm>
            <a:off x="8942832" y="2834640"/>
            <a:ext cx="790956"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b="1" dirty="0">
                <a:solidFill>
                  <a:srgbClr val="188038"/>
                </a:solidFill>
                <a:latin typeface="Aptos" pitchFamily="34" charset="0"/>
                <a:ea typeface="Aptos" pitchFamily="34" charset="-122"/>
                <a:cs typeface="Aptos" pitchFamily="34" charset="-120"/>
              </a:rPr>
              <a:t>0.965</a:t>
            </a:r>
            <a:endParaRPr lang="en-US" sz="940" dirty="0"/>
          </a:p>
        </p:txBody>
      </p:sp>
      <p:sp>
        <p:nvSpPr>
          <p:cNvPr id="30" name="Text 28"/>
          <p:cNvSpPr/>
          <p:nvPr/>
        </p:nvSpPr>
        <p:spPr>
          <a:xfrm>
            <a:off x="9747504" y="2834640"/>
            <a:ext cx="864108"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b="1" dirty="0">
                <a:solidFill>
                  <a:srgbClr val="188038"/>
                </a:solidFill>
                <a:latin typeface="Aptos" pitchFamily="34" charset="0"/>
                <a:ea typeface="Aptos" pitchFamily="34" charset="-122"/>
                <a:cs typeface="Aptos" pitchFamily="34" charset="-120"/>
              </a:rPr>
              <a:t>0.965</a:t>
            </a:r>
            <a:endParaRPr lang="en-US" sz="940" dirty="0"/>
          </a:p>
        </p:txBody>
      </p:sp>
      <p:sp>
        <p:nvSpPr>
          <p:cNvPr id="31" name="Text 29"/>
          <p:cNvSpPr/>
          <p:nvPr/>
        </p:nvSpPr>
        <p:spPr>
          <a:xfrm>
            <a:off x="10625328" y="2834640"/>
            <a:ext cx="864108"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b="1" dirty="0">
                <a:solidFill>
                  <a:srgbClr val="188038"/>
                </a:solidFill>
                <a:latin typeface="Aptos" pitchFamily="34" charset="0"/>
                <a:ea typeface="Aptos" pitchFamily="34" charset="-122"/>
                <a:cs typeface="Aptos" pitchFamily="34" charset="-120"/>
              </a:rPr>
              <a:t>0.965</a:t>
            </a:r>
            <a:endParaRPr lang="en-US" sz="940" dirty="0"/>
          </a:p>
        </p:txBody>
      </p:sp>
      <p:sp>
        <p:nvSpPr>
          <p:cNvPr id="32" name="Text 30"/>
          <p:cNvSpPr/>
          <p:nvPr/>
        </p:nvSpPr>
        <p:spPr>
          <a:xfrm>
            <a:off x="5715000" y="3218688"/>
            <a:ext cx="2409444"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850" dirty="0">
                <a:solidFill>
                  <a:srgbClr val="202124"/>
                </a:solidFill>
                <a:latin typeface="Aptos" pitchFamily="34" charset="0"/>
                <a:ea typeface="Aptos" pitchFamily="34" charset="-122"/>
                <a:cs typeface="Aptos" pitchFamily="34" charset="-120"/>
              </a:rPr>
              <a:t>Qwen2.5-VL-3B-Instruct</a:t>
            </a:r>
            <a:endParaRPr lang="en-US" sz="850" dirty="0"/>
          </a:p>
        </p:txBody>
      </p:sp>
      <p:sp>
        <p:nvSpPr>
          <p:cNvPr id="33" name="Text 31"/>
          <p:cNvSpPr/>
          <p:nvPr/>
        </p:nvSpPr>
        <p:spPr>
          <a:xfrm>
            <a:off x="8138160" y="3218688"/>
            <a:ext cx="790956"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0.763</a:t>
            </a:r>
            <a:endParaRPr lang="en-US" sz="940" dirty="0"/>
          </a:p>
        </p:txBody>
      </p:sp>
      <p:sp>
        <p:nvSpPr>
          <p:cNvPr id="34" name="Text 32"/>
          <p:cNvSpPr/>
          <p:nvPr/>
        </p:nvSpPr>
        <p:spPr>
          <a:xfrm>
            <a:off x="8942832" y="3218688"/>
            <a:ext cx="790956"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0.755</a:t>
            </a:r>
            <a:endParaRPr lang="en-US" sz="940" dirty="0"/>
          </a:p>
        </p:txBody>
      </p:sp>
      <p:sp>
        <p:nvSpPr>
          <p:cNvPr id="35" name="Text 33"/>
          <p:cNvSpPr/>
          <p:nvPr/>
        </p:nvSpPr>
        <p:spPr>
          <a:xfrm>
            <a:off x="9747504" y="3218688"/>
            <a:ext cx="864108"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0.709</a:t>
            </a:r>
            <a:endParaRPr lang="en-US" sz="940" dirty="0"/>
          </a:p>
        </p:txBody>
      </p:sp>
      <p:sp>
        <p:nvSpPr>
          <p:cNvPr id="36" name="Text 34"/>
          <p:cNvSpPr/>
          <p:nvPr/>
        </p:nvSpPr>
        <p:spPr>
          <a:xfrm>
            <a:off x="10625328" y="3218688"/>
            <a:ext cx="864108" cy="36576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940" dirty="0">
                <a:solidFill>
                  <a:srgbClr val="202124"/>
                </a:solidFill>
                <a:latin typeface="Aptos" pitchFamily="34" charset="0"/>
                <a:ea typeface="Aptos" pitchFamily="34" charset="-122"/>
                <a:cs typeface="Aptos" pitchFamily="34" charset="-120"/>
              </a:rPr>
              <a:t>0.801</a:t>
            </a:r>
            <a:endParaRPr lang="en-US" sz="940" dirty="0"/>
          </a:p>
        </p:txBody>
      </p:sp>
      <p:sp>
        <p:nvSpPr>
          <p:cNvPr id="37" name="Text 35"/>
          <p:cNvSpPr/>
          <p:nvPr/>
        </p:nvSpPr>
        <p:spPr>
          <a:xfrm>
            <a:off x="5715000" y="4462272"/>
            <a:ext cx="1188720" cy="228600"/>
          </a:xfrm>
          <a:prstGeom prst="rect">
            <a:avLst/>
          </a:prstGeom>
          <a:noFill/>
          <a:ln/>
        </p:spPr>
        <p:txBody>
          <a:bodyPr wrap="square" lIns="0" tIns="0" rIns="0" bIns="0" rtlCol="0" anchor="ctr"/>
          <a:lstStyle/>
          <a:p>
            <a:pPr indent="0" marL="0">
              <a:buNone/>
            </a:pPr>
            <a:r>
              <a:rPr lang="en-US" sz="1050" b="1" dirty="0">
                <a:solidFill>
                  <a:srgbClr val="1A73E8"/>
                </a:solidFill>
              </a:rPr>
              <a:t>Takeaway</a:t>
            </a:r>
            <a:endParaRPr lang="en-US" sz="1050" dirty="0"/>
          </a:p>
        </p:txBody>
      </p:sp>
      <p:sp>
        <p:nvSpPr>
          <p:cNvPr id="38" name="Text 36"/>
          <p:cNvSpPr/>
          <p:nvPr/>
        </p:nvSpPr>
        <p:spPr>
          <a:xfrm>
            <a:off x="5715000" y="4782312"/>
            <a:ext cx="5440680" cy="438912"/>
          </a:xfrm>
          <a:prstGeom prst="rect">
            <a:avLst/>
          </a:prstGeom>
          <a:noFill/>
          <a:ln/>
        </p:spPr>
        <p:txBody>
          <a:bodyPr wrap="square" lIns="0" tIns="0" rIns="0" bIns="0" rtlCol="0" anchor="ctr">
            <a:normAutofit/>
          </a:bodyPr>
          <a:lstStyle/>
          <a:p>
            <a:pPr indent="0" marL="0">
              <a:buNone/>
            </a:pPr>
            <a:r>
              <a:rPr lang="en-US" sz="1500" b="1" dirty="0">
                <a:solidFill>
                  <a:srgbClr val="0B1324"/>
                </a:solidFill>
              </a:rPr>
              <a:t>Token-level fusion over frozen CLIP features gives the strongest contradiction detector.</a:t>
            </a:r>
            <a:endParaRPr lang="en-US" sz="1500" dirty="0"/>
          </a:p>
        </p:txBody>
      </p:sp>
      <p:sp>
        <p:nvSpPr>
          <p:cNvPr id="39" name="Text 37"/>
          <p:cNvSpPr/>
          <p:nvPr/>
        </p:nvSpPr>
        <p:spPr>
          <a:xfrm>
            <a:off x="502920" y="6446520"/>
            <a:ext cx="8686800" cy="164592"/>
          </a:xfrm>
          <a:prstGeom prst="rect">
            <a:avLst/>
          </a:prstGeom>
          <a:noFill/>
          <a:ln/>
        </p:spPr>
        <p:txBody>
          <a:bodyPr wrap="square" lIns="0" tIns="0" rIns="0" bIns="0" rtlCol="0" anchor="ctr">
            <a:normAutofit/>
          </a:bodyPr>
          <a:lstStyle/>
          <a:p>
            <a:pPr indent="0" marL="0">
              <a:buNone/>
            </a:pPr>
            <a:r>
              <a:rPr lang="en-US" sz="680" dirty="0">
                <a:solidFill>
                  <a:srgbClr val="6F7276"/>
                </a:solidFill>
                <a:latin typeface="Aptos" pitchFamily="34" charset="0"/>
                <a:ea typeface="Aptos" pitchFamily="34" charset="-122"/>
                <a:cs typeface="Aptos" pitchFamily="34" charset="-120"/>
              </a:rPr>
              <a:t>Summary metrics: project_artifacts/metrics/final/model_comparison_summary_final.csv</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02920" y="320040"/>
            <a:ext cx="2148840" cy="228600"/>
          </a:xfrm>
          <a:prstGeom prst="rect">
            <a:avLst/>
          </a:prstGeom>
          <a:noFill/>
          <a:ln/>
        </p:spPr>
        <p:txBody>
          <a:bodyPr wrap="square" lIns="0" tIns="0" rIns="0" bIns="0" rtlCol="0" anchor="ctr">
            <a:normAutofit/>
          </a:bodyPr>
          <a:lstStyle/>
          <a:p>
            <a:pPr indent="0" marL="0">
              <a:buNone/>
            </a:pPr>
            <a:r>
              <a:rPr lang="en-US" sz="830" b="1" dirty="0">
                <a:solidFill>
                  <a:srgbClr val="1A73E8"/>
                </a:solidFill>
                <a:latin typeface="Aptos" pitchFamily="34" charset="0"/>
                <a:ea typeface="Aptos" pitchFamily="34" charset="-122"/>
                <a:cs typeface="Aptos" pitchFamily="34" charset="-120"/>
              </a:rPr>
              <a:t>RESULTS</a:t>
            </a:r>
            <a:endParaRPr lang="en-US" sz="830" dirty="0"/>
          </a:p>
        </p:txBody>
      </p:sp>
      <p:sp>
        <p:nvSpPr>
          <p:cNvPr id="3" name="Text 1"/>
          <p:cNvSpPr/>
          <p:nvPr/>
        </p:nvSpPr>
        <p:spPr>
          <a:xfrm>
            <a:off x="502920" y="658368"/>
            <a:ext cx="9875520" cy="411480"/>
          </a:xfrm>
          <a:prstGeom prst="rect">
            <a:avLst/>
          </a:prstGeom>
          <a:noFill/>
          <a:ln/>
        </p:spPr>
        <p:txBody>
          <a:bodyPr wrap="square" lIns="0" tIns="0" rIns="0" bIns="0" rtlCol="0" anchor="ctr">
            <a:normAutofit/>
          </a:bodyPr>
          <a:lstStyle/>
          <a:p>
            <a:pPr indent="0" marL="0">
              <a:buNone/>
            </a:pPr>
            <a:r>
              <a:rPr lang="en-US" sz="2750" b="1" dirty="0">
                <a:solidFill>
                  <a:srgbClr val="0B1324"/>
                </a:solidFill>
                <a:latin typeface="Aptos Display" pitchFamily="34" charset="0"/>
                <a:ea typeface="Aptos Display" pitchFamily="34" charset="-122"/>
                <a:cs typeface="Aptos Display" pitchFamily="34" charset="-120"/>
              </a:rPr>
              <a:t>Localized count edits expose grounding failures</a:t>
            </a:r>
            <a:endParaRPr lang="en-US" sz="2750" dirty="0"/>
          </a:p>
        </p:txBody>
      </p:sp>
      <p:sp>
        <p:nvSpPr>
          <p:cNvPr id="4" name="Text 2"/>
          <p:cNvSpPr/>
          <p:nvPr/>
        </p:nvSpPr>
        <p:spPr>
          <a:xfrm>
            <a:off x="502920" y="1124712"/>
            <a:ext cx="10149840" cy="292608"/>
          </a:xfrm>
          <a:prstGeom prst="rect">
            <a:avLst/>
          </a:prstGeom>
          <a:noFill/>
          <a:ln/>
        </p:spPr>
        <p:txBody>
          <a:bodyPr wrap="square" lIns="0" tIns="0" rIns="0" bIns="0" rtlCol="0" anchor="ctr">
            <a:normAutofit/>
          </a:bodyPr>
          <a:lstStyle/>
          <a:p>
            <a:pPr indent="0" marL="0">
              <a:buNone/>
            </a:pPr>
            <a:r>
              <a:rPr lang="en-US" sz="1230" dirty="0">
                <a:solidFill>
                  <a:srgbClr val="5F6368"/>
                </a:solidFill>
                <a:latin typeface="Aptos" pitchFamily="34" charset="0"/>
                <a:ea typeface="Aptos" pitchFamily="34" charset="-122"/>
                <a:cs typeface="Aptos" pitchFamily="34" charset="-120"/>
              </a:rPr>
              <a:t>The hardest cases are plausible captions with a single visually false count detail.</a:t>
            </a:r>
            <a:endParaRPr lang="en-US" sz="1230" dirty="0"/>
          </a:p>
        </p:txBody>
      </p:sp>
      <p:sp>
        <p:nvSpPr>
          <p:cNvPr id="5" name="Text 3"/>
          <p:cNvSpPr/>
          <p:nvPr/>
        </p:nvSpPr>
        <p:spPr>
          <a:xfrm>
            <a:off x="640080" y="1664208"/>
            <a:ext cx="3200400" cy="274320"/>
          </a:xfrm>
          <a:prstGeom prst="rect">
            <a:avLst/>
          </a:prstGeom>
          <a:noFill/>
          <a:ln/>
        </p:spPr>
        <p:txBody>
          <a:bodyPr wrap="square" lIns="0" tIns="0" rIns="0" bIns="0" rtlCol="0" anchor="ctr"/>
          <a:lstStyle/>
          <a:p>
            <a:pPr indent="0" marL="0">
              <a:buNone/>
            </a:pPr>
            <a:r>
              <a:rPr lang="en-US" sz="1300" b="1" dirty="0">
                <a:solidFill>
                  <a:srgbClr val="0B1324"/>
                </a:solidFill>
              </a:rPr>
              <a:t>Count contradiction stress test</a:t>
            </a:r>
            <a:endParaRPr lang="en-US" sz="1300" dirty="0"/>
          </a:p>
        </p:txBody>
      </p:sp>
      <p:sp>
        <p:nvSpPr>
          <p:cNvPr id="6" name="Text 4"/>
          <p:cNvSpPr/>
          <p:nvPr/>
        </p:nvSpPr>
        <p:spPr>
          <a:xfrm>
            <a:off x="640080" y="2057400"/>
            <a:ext cx="1828800" cy="530352"/>
          </a:xfrm>
          <a:prstGeom prst="rect">
            <a:avLst/>
          </a:prstGeom>
          <a:noFill/>
          <a:ln/>
        </p:spPr>
        <p:txBody>
          <a:bodyPr wrap="square" lIns="0" tIns="0" rIns="0" bIns="0" rtlCol="0" anchor="ctr"/>
          <a:lstStyle/>
          <a:p>
            <a:pPr indent="0" marL="0">
              <a:buNone/>
            </a:pPr>
            <a:r>
              <a:rPr lang="en-US" sz="3400" b="1" dirty="0">
                <a:solidFill>
                  <a:srgbClr val="188038"/>
                </a:solidFill>
              </a:rPr>
              <a:t>98.0%</a:t>
            </a:r>
            <a:endParaRPr lang="en-US" sz="3400" dirty="0"/>
          </a:p>
        </p:txBody>
      </p:sp>
      <p:sp>
        <p:nvSpPr>
          <p:cNvPr id="7" name="Text 5"/>
          <p:cNvSpPr/>
          <p:nvPr/>
        </p:nvSpPr>
        <p:spPr>
          <a:xfrm>
            <a:off x="640080" y="2651760"/>
            <a:ext cx="2560320" cy="219456"/>
          </a:xfrm>
          <a:prstGeom prst="rect">
            <a:avLst/>
          </a:prstGeom>
          <a:noFill/>
          <a:ln/>
        </p:spPr>
        <p:txBody>
          <a:bodyPr wrap="square" lIns="0" tIns="0" rIns="0" bIns="0" rtlCol="0" anchor="ctr"/>
          <a:lstStyle/>
          <a:p>
            <a:pPr indent="0" marL="0">
              <a:buNone/>
            </a:pPr>
            <a:r>
              <a:rPr lang="en-US" sz="1150" dirty="0">
                <a:solidFill>
                  <a:srgbClr val="5F6368"/>
                </a:solidFill>
              </a:rPr>
              <a:t>Cross-Attention accuracy</a:t>
            </a:r>
            <a:endParaRPr lang="en-US" sz="1150" dirty="0"/>
          </a:p>
        </p:txBody>
      </p:sp>
      <p:sp>
        <p:nvSpPr>
          <p:cNvPr id="8" name="Text 6"/>
          <p:cNvSpPr/>
          <p:nvPr/>
        </p:nvSpPr>
        <p:spPr>
          <a:xfrm>
            <a:off x="3383280" y="2057400"/>
            <a:ext cx="1828800" cy="530352"/>
          </a:xfrm>
          <a:prstGeom prst="rect">
            <a:avLst/>
          </a:prstGeom>
          <a:noFill/>
          <a:ln/>
        </p:spPr>
        <p:txBody>
          <a:bodyPr wrap="square" lIns="0" tIns="0" rIns="0" bIns="0" rtlCol="0" anchor="ctr"/>
          <a:lstStyle/>
          <a:p>
            <a:pPr indent="0" marL="0">
              <a:buNone/>
            </a:pPr>
            <a:r>
              <a:rPr lang="en-US" sz="3400" b="1" dirty="0">
                <a:solidFill>
                  <a:srgbClr val="D93025"/>
                </a:solidFill>
              </a:rPr>
              <a:t>18.6%</a:t>
            </a:r>
            <a:endParaRPr lang="en-US" sz="3400" dirty="0"/>
          </a:p>
        </p:txBody>
      </p:sp>
      <p:sp>
        <p:nvSpPr>
          <p:cNvPr id="9" name="Text 7"/>
          <p:cNvSpPr/>
          <p:nvPr/>
        </p:nvSpPr>
        <p:spPr>
          <a:xfrm>
            <a:off x="3383280" y="2651760"/>
            <a:ext cx="2103120" cy="219456"/>
          </a:xfrm>
          <a:prstGeom prst="rect">
            <a:avLst/>
          </a:prstGeom>
          <a:noFill/>
          <a:ln/>
        </p:spPr>
        <p:txBody>
          <a:bodyPr wrap="square" lIns="0" tIns="0" rIns="0" bIns="0" rtlCol="0" anchor="ctr"/>
          <a:lstStyle/>
          <a:p>
            <a:pPr indent="0" marL="0">
              <a:buNone/>
            </a:pPr>
            <a:r>
              <a:rPr lang="en-US" sz="1150" dirty="0">
                <a:solidFill>
                  <a:srgbClr val="5F6368"/>
                </a:solidFill>
              </a:rPr>
              <a:t>Qwen accuracy</a:t>
            </a:r>
            <a:endParaRPr lang="en-US" sz="1150" dirty="0"/>
          </a:p>
        </p:txBody>
      </p:sp>
      <p:sp>
        <p:nvSpPr>
          <p:cNvPr id="10" name="Text 8"/>
          <p:cNvSpPr/>
          <p:nvPr/>
        </p:nvSpPr>
        <p:spPr>
          <a:xfrm>
            <a:off x="640080" y="3246120"/>
            <a:ext cx="2103120" cy="228600"/>
          </a:xfrm>
          <a:prstGeom prst="rect">
            <a:avLst/>
          </a:prstGeom>
          <a:noFill/>
          <a:ln/>
        </p:spPr>
        <p:txBody>
          <a:bodyPr wrap="square" lIns="0" tIns="0" rIns="0" bIns="0" rtlCol="0" anchor="ctr"/>
          <a:lstStyle/>
          <a:p>
            <a:pPr indent="0" marL="0">
              <a:buNone/>
            </a:pPr>
            <a:r>
              <a:rPr lang="en-US" sz="1050" b="1" dirty="0">
                <a:solidFill>
                  <a:srgbClr val="1A73E8"/>
                </a:solidFill>
              </a:rPr>
              <a:t>Contradiction recall</a:t>
            </a:r>
            <a:endParaRPr lang="en-US" sz="1050" dirty="0"/>
          </a:p>
        </p:txBody>
      </p:sp>
      <p:sp>
        <p:nvSpPr>
          <p:cNvPr id="11" name="Text 9"/>
          <p:cNvSpPr/>
          <p:nvPr/>
        </p:nvSpPr>
        <p:spPr>
          <a:xfrm>
            <a:off x="640080" y="3566160"/>
            <a:ext cx="3003804" cy="32004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120" dirty="0">
                <a:solidFill>
                  <a:srgbClr val="202124"/>
                </a:solidFill>
                <a:latin typeface="Aptos" pitchFamily="34" charset="0"/>
                <a:ea typeface="Aptos" pitchFamily="34" charset="-122"/>
                <a:cs typeface="Aptos" pitchFamily="34" charset="-120"/>
              </a:rPr>
              <a:t>Cross-Attention Head</a:t>
            </a:r>
            <a:endParaRPr lang="en-US" sz="1120" dirty="0"/>
          </a:p>
        </p:txBody>
      </p:sp>
      <p:sp>
        <p:nvSpPr>
          <p:cNvPr id="12" name="Text 10"/>
          <p:cNvSpPr/>
          <p:nvPr/>
        </p:nvSpPr>
        <p:spPr>
          <a:xfrm>
            <a:off x="3657600" y="3566160"/>
            <a:ext cx="1495044" cy="32004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120" dirty="0">
                <a:solidFill>
                  <a:srgbClr val="202124"/>
                </a:solidFill>
                <a:latin typeface="Aptos" pitchFamily="34" charset="0"/>
                <a:ea typeface="Aptos" pitchFamily="34" charset="-122"/>
                <a:cs typeface="Aptos" pitchFamily="34" charset="-120"/>
              </a:rPr>
              <a:t>95.9%</a:t>
            </a:r>
            <a:endParaRPr lang="en-US" sz="1120" dirty="0"/>
          </a:p>
        </p:txBody>
      </p:sp>
      <p:sp>
        <p:nvSpPr>
          <p:cNvPr id="13" name="Text 11"/>
          <p:cNvSpPr/>
          <p:nvPr/>
        </p:nvSpPr>
        <p:spPr>
          <a:xfrm>
            <a:off x="640080" y="3895344"/>
            <a:ext cx="3003804" cy="32004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120" dirty="0">
                <a:solidFill>
                  <a:srgbClr val="202124"/>
                </a:solidFill>
                <a:latin typeface="Aptos" pitchFamily="34" charset="0"/>
                <a:ea typeface="Aptos" pitchFamily="34" charset="-122"/>
                <a:cs typeface="Aptos" pitchFamily="34" charset="-120"/>
              </a:rPr>
              <a:t>Qwen2.5-VL-3B-Instruct</a:t>
            </a:r>
            <a:endParaRPr lang="en-US" sz="1120" dirty="0"/>
          </a:p>
        </p:txBody>
      </p:sp>
      <p:sp>
        <p:nvSpPr>
          <p:cNvPr id="14" name="Text 12"/>
          <p:cNvSpPr/>
          <p:nvPr/>
        </p:nvSpPr>
        <p:spPr>
          <a:xfrm>
            <a:off x="3657600" y="3895344"/>
            <a:ext cx="1495044" cy="320040"/>
          </a:xfrm>
          <a:prstGeom prst="rect">
            <a:avLst/>
          </a:prstGeom>
          <a:solidFill>
            <a:srgbClr val="FFFFFF"/>
          </a:solidFill>
          <a:ln w="4445">
            <a:solidFill>
              <a:srgbClr val="DADCE0"/>
            </a:solidFill>
          </a:ln>
        </p:spPr>
        <p:txBody>
          <a:bodyPr wrap="square" lIns="635" tIns="635" rIns="635" bIns="635" rtlCol="0" anchor="ctr">
            <a:normAutofit/>
          </a:bodyPr>
          <a:lstStyle/>
          <a:p>
            <a:pPr indent="0" marL="0">
              <a:buNone/>
            </a:pPr>
            <a:r>
              <a:rPr lang="en-US" sz="1120" dirty="0">
                <a:solidFill>
                  <a:srgbClr val="202124"/>
                </a:solidFill>
                <a:latin typeface="Aptos" pitchFamily="34" charset="0"/>
                <a:ea typeface="Aptos" pitchFamily="34" charset="-122"/>
                <a:cs typeface="Aptos" pitchFamily="34" charset="-120"/>
              </a:rPr>
              <a:t>57.6%</a:t>
            </a:r>
            <a:endParaRPr lang="en-US" sz="1120" dirty="0"/>
          </a:p>
        </p:txBody>
      </p:sp>
      <p:sp>
        <p:nvSpPr>
          <p:cNvPr id="15" name="Text 13"/>
          <p:cNvSpPr/>
          <p:nvPr/>
        </p:nvSpPr>
        <p:spPr>
          <a:xfrm>
            <a:off x="640080" y="4681728"/>
            <a:ext cx="4206240" cy="228600"/>
          </a:xfrm>
          <a:prstGeom prst="rect">
            <a:avLst/>
          </a:prstGeom>
          <a:noFill/>
          <a:ln/>
        </p:spPr>
        <p:txBody>
          <a:bodyPr wrap="square" lIns="0" tIns="0" rIns="0" bIns="0" rtlCol="0" anchor="ctr"/>
          <a:lstStyle/>
          <a:p>
            <a:pPr indent="0" marL="0">
              <a:buNone/>
            </a:pPr>
            <a:r>
              <a:rPr lang="en-US" sz="1050" b="1" dirty="0">
                <a:solidFill>
                  <a:srgbClr val="1A73E8"/>
                </a:solidFill>
              </a:rPr>
              <a:t>What changed from the Motivation slide?</a:t>
            </a:r>
            <a:endParaRPr lang="en-US" sz="1050" dirty="0"/>
          </a:p>
        </p:txBody>
      </p:sp>
      <p:sp>
        <p:nvSpPr>
          <p:cNvPr id="16" name="Text 14"/>
          <p:cNvSpPr/>
          <p:nvPr/>
        </p:nvSpPr>
        <p:spPr>
          <a:xfrm>
            <a:off x="640080" y="4983480"/>
            <a:ext cx="4572000" cy="566928"/>
          </a:xfrm>
          <a:prstGeom prst="rect">
            <a:avLst/>
          </a:prstGeom>
          <a:noFill/>
          <a:ln/>
        </p:spPr>
        <p:txBody>
          <a:bodyPr wrap="square" lIns="0" tIns="0" rIns="0" bIns="0" rtlCol="0" anchor="ctr">
            <a:normAutofit/>
          </a:bodyPr>
          <a:lstStyle/>
          <a:p>
            <a:pPr indent="0" marL="0">
              <a:buNone/>
            </a:pPr>
            <a:r>
              <a:rPr lang="en-US" sz="1320" dirty="0">
                <a:solidFill>
                  <a:srgbClr val="5F6368"/>
                </a:solidFill>
              </a:rPr>
              <a:t>The opening example is not an isolated miss. Count edits systematically separate precise grounding from broad caption plausibility.</a:t>
            </a:r>
            <a:endParaRPr lang="en-US" sz="1320" dirty="0"/>
          </a:p>
        </p:txBody>
      </p:sp>
      <p:pic>
        <p:nvPicPr>
          <p:cNvPr id="17" name="Image 0" descr="/mnt/data/pptx_extract/ppt/media/image3.png">    </p:cNvPr>
          <p:cNvPicPr>
            <a:picLocks noChangeAspect="1"/>
          </p:cNvPicPr>
          <p:nvPr/>
        </p:nvPicPr>
        <p:blipFill>
          <a:blip r:embed="rId1"/>
          <a:stretch>
            <a:fillRect/>
          </a:stretch>
        </p:blipFill>
        <p:spPr>
          <a:xfrm>
            <a:off x="6024844" y="1600200"/>
            <a:ext cx="5095312" cy="3127248"/>
          </a:xfrm>
          <a:prstGeom prst="rect">
            <a:avLst/>
          </a:prstGeom>
        </p:spPr>
      </p:pic>
      <p:sp>
        <p:nvSpPr>
          <p:cNvPr id="18" name="Text 15"/>
          <p:cNvSpPr/>
          <p:nvPr/>
        </p:nvSpPr>
        <p:spPr>
          <a:xfrm>
            <a:off x="5989320" y="5029200"/>
            <a:ext cx="1188720" cy="228600"/>
          </a:xfrm>
          <a:prstGeom prst="rect">
            <a:avLst/>
          </a:prstGeom>
          <a:noFill/>
          <a:ln/>
        </p:spPr>
        <p:txBody>
          <a:bodyPr wrap="square" lIns="0" tIns="0" rIns="0" bIns="0" rtlCol="0" anchor="ctr"/>
          <a:lstStyle/>
          <a:p>
            <a:pPr indent="0" marL="0">
              <a:buNone/>
            </a:pPr>
            <a:r>
              <a:rPr lang="en-US" sz="1050" b="1" dirty="0">
                <a:solidFill>
                  <a:srgbClr val="1A73E8"/>
                </a:solidFill>
              </a:rPr>
              <a:t>Conclusion</a:t>
            </a:r>
            <a:endParaRPr lang="en-US" sz="1050" dirty="0"/>
          </a:p>
        </p:txBody>
      </p:sp>
      <p:sp>
        <p:nvSpPr>
          <p:cNvPr id="19" name="Text 16"/>
          <p:cNvSpPr/>
          <p:nvPr/>
        </p:nvSpPr>
        <p:spPr>
          <a:xfrm>
            <a:off x="5989320" y="5330952"/>
            <a:ext cx="5166360" cy="530352"/>
          </a:xfrm>
          <a:prstGeom prst="rect">
            <a:avLst/>
          </a:prstGeom>
          <a:noFill/>
          <a:ln/>
        </p:spPr>
        <p:txBody>
          <a:bodyPr wrap="square" lIns="0" tIns="0" rIns="0" bIns="0" rtlCol="0" anchor="ctr">
            <a:normAutofit/>
          </a:bodyPr>
          <a:lstStyle/>
          <a:p>
            <a:pPr indent="0" marL="0">
              <a:buNone/>
            </a:pPr>
            <a:r>
              <a:rPr lang="en-US" sz="1370" b="1" dirty="0">
                <a:solidFill>
                  <a:srgbClr val="0B1324"/>
                </a:solidFill>
              </a:rPr>
              <a:t>This benchmark separates broad caption plausibility from precise visual grounding; supervised cross-attention over frozen CLIP token states handles that grounding best.</a:t>
            </a:r>
            <a:endParaRPr lang="en-US" sz="1370" dirty="0"/>
          </a:p>
        </p:txBody>
      </p:sp>
      <p:sp>
        <p:nvSpPr>
          <p:cNvPr id="20" name="Text 17"/>
          <p:cNvSpPr/>
          <p:nvPr/>
        </p:nvSpPr>
        <p:spPr>
          <a:xfrm>
            <a:off x="502920" y="6446520"/>
            <a:ext cx="8686800" cy="164592"/>
          </a:xfrm>
          <a:prstGeom prst="rect">
            <a:avLst/>
          </a:prstGeom>
          <a:noFill/>
          <a:ln/>
        </p:spPr>
        <p:txBody>
          <a:bodyPr wrap="square" lIns="0" tIns="0" rIns="0" bIns="0" rtlCol="0" anchor="ctr">
            <a:normAutofit/>
          </a:bodyPr>
          <a:lstStyle/>
          <a:p>
            <a:pPr indent="0" marL="0">
              <a:buNone/>
            </a:pPr>
            <a:r>
              <a:rPr lang="en-US" sz="680" dirty="0">
                <a:solidFill>
                  <a:srgbClr val="6F7276"/>
                </a:solidFill>
                <a:latin typeface="Aptos" pitchFamily="34" charset="0"/>
                <a:ea typeface="Aptos" pitchFamily="34" charset="-122"/>
                <a:cs typeface="Aptos" pitchFamily="34" charset="-120"/>
              </a:rPr>
              <a:t>Family metrics: project_artifacts/metrics/final/model_comparison_summary_final.csv</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Contradiction Detection</dc:title>
  <dc:subject>Updated COMP 646 multimodal contradiction slide deck</dc:subject>
  <dc:creator>OpenAI</dc:creator>
  <cp:lastModifiedBy>OpenAI</cp:lastModifiedBy>
  <cp:revision>1</cp:revision>
  <dcterms:created xsi:type="dcterms:W3CDTF">2026-04-27T01:32:39Z</dcterms:created>
  <dcterms:modified xsi:type="dcterms:W3CDTF">2026-04-27T01:32:39Z</dcterms:modified>
</cp:coreProperties>
</file>